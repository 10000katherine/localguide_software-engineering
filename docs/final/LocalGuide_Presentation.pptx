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2" r:id="rId5"/>
    <p:sldId id="259" r:id="rId6"/>
    <p:sldId id="260" r:id="rId7"/>
    <p:sldId id="265" r:id="rId8"/>
    <p:sldId id="273" r:id="rId9"/>
    <p:sldId id="261" r:id="rId10"/>
    <p:sldId id="262" r:id="rId11"/>
    <p:sldId id="263" r:id="rId12"/>
    <p:sldId id="271" r:id="rId13"/>
    <p:sldId id="274" r:id="rId14"/>
    <p:sldId id="266" r:id="rId15"/>
    <p:sldId id="267" r:id="rId16"/>
    <p:sldId id="268" r:id="rId17"/>
    <p:sldId id="269" r:id="rId18"/>
    <p:sldId id="264" r:id="rId19"/>
    <p:sldId id="275" r:id="rId20"/>
    <p:sldId id="27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7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142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1D3A8-2EE2-6BF0-24D8-8FEA571E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A17DDD-E197-A74D-2B06-564BE0A34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A0BD8-E713-0382-4D63-99870D2A3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D131F-A26D-2C3C-57E8-D2586523E5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4819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7302D-2CBD-926C-4CE8-1D60D3C9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9FA62C-C72D-1B50-32BD-15721EB4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585B0-AA6B-F0BA-663A-4953740B8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94D47-ABA5-A3A5-3495-DBDE1235C7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138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256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  ·  Douglas College  ·  CSIS 3275-001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097280" cy="1097280"/>
          </a:xfrm>
          <a:prstGeom prst="line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0700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9601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737360" y="171907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11480" y="2377440"/>
            <a:ext cx="8321040" cy="36576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411480" y="25420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·  Zhi Kang  ·  Aarti Pandya  ·  Sehjalpreet  ·  Dong Zhang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C2C Tour Guide Booking Platform  ·  15 MVP Features  ·  12-Week Agile Cycle  ·  480 Development Hours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guides lose income. Tourists lose trust. We fix both.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37360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00200" y="173736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728216" y="1737360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lose 20–30% of every booking to OTA middlemen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539496" y="2633472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600200" y="2633472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1728216" y="2633472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contracts, no reviews, no protection — tourists can’t verify guides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529584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539496" y="3529584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600200" y="3529584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1728216" y="3529584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local guides have zero online discoverability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48646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Our Solution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737360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82896" y="1737360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852160" y="1737360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980176" y="17373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keep 88% — vs 70–80% on OTAs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2404872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882896" y="2404872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3-Step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52160" y="2404872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5980176" y="24048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 confirmed in &lt; 10 minutes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072384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4882896" y="3072384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52160" y="3072384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980176" y="307238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Identity-verified guides build tourist confidence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3739896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82896" y="3739896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52160" y="3739896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373989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 across Tourist, Guide &amp; Admin roles</a:t>
            </a:r>
            <a:endParaRPr lang="en-US" sz="1200" dirty="0"/>
          </a:p>
        </p:txBody>
      </p:sp>
      <p:sp>
        <p:nvSpPr>
          <p:cNvPr id="37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Tourists need trust. Guides need visibility. LocalGuide Connect delivers both.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Development Process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Parallel Modules  ·  6 Sprints  ·  12 Weeks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Team Members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19072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19072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Kang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171907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819656" y="1719072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80360" y="1719072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008376" y="1719072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tourist profile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252374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Sehjalpreet</a:t>
            </a:r>
          </a:p>
        </p:txBody>
      </p:sp>
      <p:sp>
        <p:nvSpPr>
          <p:cNvPr id="15" name="Shape 13"/>
          <p:cNvSpPr/>
          <p:nvPr/>
        </p:nvSpPr>
        <p:spPr>
          <a:xfrm>
            <a:off x="1691640" y="252374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1819656" y="2523744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80360" y="2523744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008376" y="2523744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328416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339242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Zhang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1640" y="332841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1819656" y="3328416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80360" y="3328416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008376" y="332841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flow, payment stub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133088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4155948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Aarti Pandya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691640" y="4133088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1819656" y="4133088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Reviews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80360" y="4133088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008376" y="413308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Reviews, admin, CI pipeline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1298448"/>
            <a:ext cx="3840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956048" y="1298448"/>
            <a:ext cx="3730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Sprint Timeline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1719072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974336" y="1719072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1–2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52160" y="1719072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1719072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DB schema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2523744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974336" y="2523744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3–4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5–8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852160" y="2523744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5980176" y="2523744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46320" y="3328416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4974336" y="3328416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9–10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852160" y="3328416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5980176" y="332841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panel, reviews, mobile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46320" y="4133088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974336" y="4133088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11–12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52160" y="4133088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980176" y="4133088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CI pipeline, docs</a:t>
            </a:r>
            <a:endParaRPr lang="en-US" sz="1200" dirty="0"/>
          </a:p>
        </p:txBody>
      </p:sp>
      <p:sp>
        <p:nvSpPr>
          <p:cNvPr id="49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Each engineer owned one end-to-end module — parallel delivery with zero blocking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Current Status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What is complete · What is running · What is Phase 2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SRBox5"/>
          <p:cNvSpPr/>
          <p:nvPr/>
        </p:nvSpPr>
        <p:spPr>
          <a:xfrm>
            <a:off x="411480" y="125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SRTxt5"/>
          <p:cNvSpPr/>
          <p:nvPr/>
        </p:nvSpPr>
        <p:spPr>
          <a:xfrm>
            <a:off x="501480" y="129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15 Core Features Implemented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Tourist, Guide &amp; Admin flows — all built and functional</a:t>
            </a:r>
          </a:p>
        </p:txBody>
      </p:sp>
      <p:sp>
        <p:nvSpPr>
          <p:cNvPr id="7" name="SRBadge5"/>
          <p:cNvSpPr/>
          <p:nvPr/>
        </p:nvSpPr>
        <p:spPr>
          <a:xfrm>
            <a:off x="8007531" y="141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8" name="SRBox8"/>
          <p:cNvSpPr/>
          <p:nvPr/>
        </p:nvSpPr>
        <p:spPr>
          <a:xfrm>
            <a:off x="411480" y="176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9" name="SRTxt8"/>
          <p:cNvSpPr/>
          <p:nvPr/>
        </p:nvSpPr>
        <p:spPr>
          <a:xfrm>
            <a:off x="501480" y="180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Runs in Local Dev Environment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Spring Boot + Vue.js + H2 in-memory — runnable on any dev machine</a:t>
            </a:r>
          </a:p>
        </p:txBody>
      </p:sp>
      <p:sp>
        <p:nvSpPr>
          <p:cNvPr id="10" name="SRBadge8"/>
          <p:cNvSpPr/>
          <p:nvPr/>
        </p:nvSpPr>
        <p:spPr>
          <a:xfrm>
            <a:off x="8007531" y="192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38A169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RUNNING</a:t>
            </a:r>
          </a:p>
        </p:txBody>
      </p:sp>
      <p:sp>
        <p:nvSpPr>
          <p:cNvPr id="11" name="SRBox11"/>
          <p:cNvSpPr/>
          <p:nvPr/>
        </p:nvSpPr>
        <p:spPr>
          <a:xfrm>
            <a:off x="411480" y="2286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SRTxt11"/>
          <p:cNvSpPr/>
          <p:nvPr/>
        </p:nvSpPr>
        <p:spPr>
          <a:xfrm>
            <a:off x="501480" y="2326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29/29 Test Cases Passed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Manual end-to-end testing in local dev — 21 user story + 8 edge cases</a:t>
            </a:r>
          </a:p>
        </p:txBody>
      </p:sp>
      <p:sp>
        <p:nvSpPr>
          <p:cNvPr id="13" name="SRBadge11"/>
          <p:cNvSpPr/>
          <p:nvPr/>
        </p:nvSpPr>
        <p:spPr>
          <a:xfrm>
            <a:off x="8007531" y="2446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4" name="SRBox14"/>
          <p:cNvSpPr/>
          <p:nvPr/>
        </p:nvSpPr>
        <p:spPr>
          <a:xfrm>
            <a:off x="411480" y="2804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SRTxt14"/>
          <p:cNvSpPr/>
          <p:nvPr/>
        </p:nvSpPr>
        <p:spPr>
          <a:xfrm>
            <a:off x="501480" y="2844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GitHub Actions CI Pipeline Active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Auto build + test on every push — CI checks reduce broken code risk</a:t>
            </a:r>
          </a:p>
        </p:txBody>
      </p:sp>
      <p:sp>
        <p:nvSpPr>
          <p:cNvPr id="16" name="SRBadge14"/>
          <p:cNvSpPr/>
          <p:nvPr/>
        </p:nvSpPr>
        <p:spPr>
          <a:xfrm>
            <a:off x="8007531" y="2964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7" name="SRBox17"/>
          <p:cNvSpPr/>
          <p:nvPr/>
        </p:nvSpPr>
        <p:spPr>
          <a:xfrm>
            <a:off x="411480" y="3322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SRTxt17"/>
          <p:cNvSpPr/>
          <p:nvPr/>
        </p:nvSpPr>
        <p:spPr>
          <a:xfrm>
            <a:off x="501480" y="3362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AWS EC2 Production Deployment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Architecture designed for EC2 — not yet deployed to live server</a:t>
            </a:r>
          </a:p>
        </p:txBody>
      </p:sp>
      <p:sp>
        <p:nvSpPr>
          <p:cNvPr id="19" name="SRBadge17"/>
          <p:cNvSpPr/>
          <p:nvPr/>
        </p:nvSpPr>
        <p:spPr>
          <a:xfrm>
            <a:off x="8007531" y="3482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0" name="SRBox20"/>
          <p:cNvSpPr/>
          <p:nvPr/>
        </p:nvSpPr>
        <p:spPr>
          <a:xfrm>
            <a:off x="411480" y="384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1" name="SRTxt20"/>
          <p:cNvSpPr/>
          <p:nvPr/>
        </p:nvSpPr>
        <p:spPr>
          <a:xfrm>
            <a:off x="501480" y="388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Real Stripe Payment Integration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PaymentGatewayPort stub is Stripe-ready — real SDK is Phase 2</a:t>
            </a:r>
          </a:p>
        </p:txBody>
      </p:sp>
      <p:sp>
        <p:nvSpPr>
          <p:cNvPr id="22" name="SRBadge20"/>
          <p:cNvSpPr/>
          <p:nvPr/>
        </p:nvSpPr>
        <p:spPr>
          <a:xfrm>
            <a:off x="8007531" y="400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3" name="SRBox23"/>
          <p:cNvSpPr/>
          <p:nvPr/>
        </p:nvSpPr>
        <p:spPr>
          <a:xfrm>
            <a:off x="411480" y="435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SRTxt23"/>
          <p:cNvSpPr/>
          <p:nvPr/>
        </p:nvSpPr>
        <p:spPr>
          <a:xfrm>
            <a:off x="501480" y="439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SendGrid Email Notifications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NotificationPort stub implemented — SendGrid wiring is Phase 2</a:t>
            </a:r>
          </a:p>
        </p:txBody>
      </p:sp>
      <p:sp>
        <p:nvSpPr>
          <p:cNvPr id="25" name="SRBadge23"/>
          <p:cNvSpPr/>
          <p:nvPr/>
        </p:nvSpPr>
        <p:spPr>
          <a:xfrm>
            <a:off x="8007531" y="451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6" name="TK"/>
          <p:cNvSpPr/>
          <p:nvPr/>
        </p:nvSpPr>
        <p:spPr>
          <a:xfrm>
            <a:off x="13063" y="4848000"/>
            <a:ext cx="9130937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Core MVP is complete and running locally. Production deployment and real third-party integrations are Phase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running locally · deployed architecture designed for AWS EC2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737360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SPA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539496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UI pages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539496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JWT interceptor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1480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539496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state mgmt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539496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/ Mobile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264408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3374136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64408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737360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739896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264408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0"/>
          <p:cNvSpPr/>
          <p:nvPr/>
        </p:nvSpPr>
        <p:spPr>
          <a:xfrm>
            <a:off x="3392424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Java 17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3264408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2"/>
          <p:cNvSpPr/>
          <p:nvPr/>
        </p:nvSpPr>
        <p:spPr>
          <a:xfrm>
            <a:off x="3392424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AuthFilter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264408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4"/>
          <p:cNvSpPr/>
          <p:nvPr/>
        </p:nvSpPr>
        <p:spPr>
          <a:xfrm>
            <a:off x="3392424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264408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6"/>
          <p:cNvSpPr/>
          <p:nvPr/>
        </p:nvSpPr>
        <p:spPr>
          <a:xfrm>
            <a:off x="3392424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YAML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117336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28"/>
          <p:cNvSpPr/>
          <p:nvPr/>
        </p:nvSpPr>
        <p:spPr>
          <a:xfrm>
            <a:off x="6227064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Data Layer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117336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737360"/>
            <a:ext cx="310896" cy="310896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592824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(dev) / MySQL 8.0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117336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32"/>
          <p:cNvSpPr/>
          <p:nvPr/>
        </p:nvSpPr>
        <p:spPr>
          <a:xfrm>
            <a:off x="6245352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8-table schema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117336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4"/>
          <p:cNvSpPr/>
          <p:nvPr/>
        </p:nvSpPr>
        <p:spPr>
          <a:xfrm>
            <a:off x="6245352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Repository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117336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6"/>
          <p:cNvSpPr/>
          <p:nvPr/>
        </p:nvSpPr>
        <p:spPr>
          <a:xfrm>
            <a:off x="6245352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117336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3" name="Text 38"/>
          <p:cNvSpPr/>
          <p:nvPr/>
        </p:nvSpPr>
        <p:spPr>
          <a:xfrm>
            <a:off x="6245352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(prod)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411480" y="40965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concerns: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2487168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1"/>
          <p:cNvSpPr/>
          <p:nvPr/>
        </p:nvSpPr>
        <p:spPr>
          <a:xfrm>
            <a:off x="2578608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 stub → Stripe SDK in Phase 2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4718304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3"/>
          <p:cNvSpPr/>
          <p:nvPr/>
        </p:nvSpPr>
        <p:spPr>
          <a:xfrm>
            <a:off x="4809744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NotificationPort stub → SendGrid in Phase 2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6949440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5"/>
          <p:cNvSpPr/>
          <p:nvPr/>
        </p:nvSpPr>
        <p:spPr>
          <a:xfrm>
            <a:off x="7040880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 on every push</a:t>
            </a:r>
            <a:endParaRPr lang="en-US" sz="1050" dirty="0"/>
          </a:p>
        </p:txBody>
      </p:sp>
      <p:pic>
        <p:nvPicPr>
          <p:cNvPr id="51" name="arch_diagram" descr="System Architecture Di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9875" y="4430000"/>
            <a:ext cx="3924250" cy="713500"/>
          </a:xfrm>
          <a:prstGeom prst="rect">
            <a:avLst/>
          </a:prstGeom>
        </p:spPr>
      </p:pic>
      <p:sp>
        <p:nvSpPr>
          <p:cNvPr id="52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Status: All 3 tiers implemented and functional in local dev environment. AWS EC2 deployment is Phase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Features Delivered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user journeys completed within MVP scope (payment &amp; email use stubs)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16736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23544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Shape 6"/>
          <p:cNvSpPr/>
          <p:nvPr/>
        </p:nvSpPr>
        <p:spPr>
          <a:xfrm>
            <a:off x="502920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02920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5528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login (JWT)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1480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Shape 10"/>
          <p:cNvSpPr/>
          <p:nvPr/>
        </p:nvSpPr>
        <p:spPr>
          <a:xfrm>
            <a:off x="502920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02920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95528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city / category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1480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Shape 14"/>
          <p:cNvSpPr/>
          <p:nvPr/>
        </p:nvSpPr>
        <p:spPr>
          <a:xfrm>
            <a:off x="502920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0292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95528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profiles &amp; reviews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502920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02920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95528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booking request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11480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2"/>
          <p:cNvSpPr/>
          <p:nvPr/>
        </p:nvSpPr>
        <p:spPr>
          <a:xfrm>
            <a:off x="502920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02920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5528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simulation (stub)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11480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9" name="Shape 26"/>
          <p:cNvSpPr/>
          <p:nvPr/>
        </p:nvSpPr>
        <p:spPr>
          <a:xfrm>
            <a:off x="502920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02920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95528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history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11480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Shape 30"/>
          <p:cNvSpPr/>
          <p:nvPr/>
        </p:nvSpPr>
        <p:spPr>
          <a:xfrm>
            <a:off x="502920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502920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95528" y="45171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5-star post-tour review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264408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16736"/>
            <a:ext cx="329184" cy="329184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3776472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500" dirty="0"/>
          </a:p>
        </p:txBody>
      </p:sp>
      <p:sp>
        <p:nvSpPr>
          <p:cNvPr id="39" name="Shape 35"/>
          <p:cNvSpPr/>
          <p:nvPr/>
        </p:nvSpPr>
        <p:spPr>
          <a:xfrm>
            <a:off x="3264408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Shape 36"/>
          <p:cNvSpPr/>
          <p:nvPr/>
        </p:nvSpPr>
        <p:spPr>
          <a:xfrm>
            <a:off x="3355848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7"/>
          <p:cNvSpPr/>
          <p:nvPr/>
        </p:nvSpPr>
        <p:spPr>
          <a:xfrm>
            <a:off x="3355848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3648456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+ submit docs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3264408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Shape 40"/>
          <p:cNvSpPr/>
          <p:nvPr/>
        </p:nvSpPr>
        <p:spPr>
          <a:xfrm>
            <a:off x="3355848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1"/>
          <p:cNvSpPr/>
          <p:nvPr/>
        </p:nvSpPr>
        <p:spPr>
          <a:xfrm>
            <a:off x="3355848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3648456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tour listings &amp; pricing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3264408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Shape 44"/>
          <p:cNvSpPr/>
          <p:nvPr/>
        </p:nvSpPr>
        <p:spPr>
          <a:xfrm>
            <a:off x="3355848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9" name="Text 45"/>
          <p:cNvSpPr/>
          <p:nvPr/>
        </p:nvSpPr>
        <p:spPr>
          <a:xfrm>
            <a:off x="3355848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3648456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availability calendar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3264408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Shape 48"/>
          <p:cNvSpPr/>
          <p:nvPr/>
        </p:nvSpPr>
        <p:spPr>
          <a:xfrm>
            <a:off x="3355848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49"/>
          <p:cNvSpPr/>
          <p:nvPr/>
        </p:nvSpPr>
        <p:spPr>
          <a:xfrm>
            <a:off x="3355848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3648456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or decline bookings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3264408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Shape 52"/>
          <p:cNvSpPr/>
          <p:nvPr/>
        </p:nvSpPr>
        <p:spPr>
          <a:xfrm>
            <a:off x="3355848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7" name="Text 53"/>
          <p:cNvSpPr/>
          <p:nvPr/>
        </p:nvSpPr>
        <p:spPr>
          <a:xfrm>
            <a:off x="3355848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8" name="Text 54"/>
          <p:cNvSpPr/>
          <p:nvPr/>
        </p:nvSpPr>
        <p:spPr>
          <a:xfrm>
            <a:off x="3648456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dashboard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3264408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Shape 56"/>
          <p:cNvSpPr/>
          <p:nvPr/>
        </p:nvSpPr>
        <p:spPr>
          <a:xfrm>
            <a:off x="3355848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Text 57"/>
          <p:cNvSpPr/>
          <p:nvPr/>
        </p:nvSpPr>
        <p:spPr>
          <a:xfrm>
            <a:off x="3355848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58"/>
          <p:cNvSpPr/>
          <p:nvPr/>
        </p:nvSpPr>
        <p:spPr>
          <a:xfrm>
            <a:off x="3648456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upcoming bookings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3264408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Shape 60"/>
          <p:cNvSpPr/>
          <p:nvPr/>
        </p:nvSpPr>
        <p:spPr>
          <a:xfrm>
            <a:off x="3355848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5" name="Text 61"/>
          <p:cNvSpPr/>
          <p:nvPr/>
        </p:nvSpPr>
        <p:spPr>
          <a:xfrm>
            <a:off x="3355848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6" name="Text 62"/>
          <p:cNvSpPr/>
          <p:nvPr/>
        </p:nvSpPr>
        <p:spPr>
          <a:xfrm>
            <a:off x="3648456" y="451844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tourist reviews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6117336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1316736"/>
            <a:ext cx="329184" cy="329184"/>
          </a:xfrm>
          <a:prstGeom prst="rect">
            <a:avLst/>
          </a:prstGeom>
        </p:spPr>
      </p:pic>
      <p:sp>
        <p:nvSpPr>
          <p:cNvPr id="69" name="Text 64"/>
          <p:cNvSpPr/>
          <p:nvPr/>
        </p:nvSpPr>
        <p:spPr>
          <a:xfrm>
            <a:off x="6629400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70" name="Shape 65"/>
          <p:cNvSpPr/>
          <p:nvPr/>
        </p:nvSpPr>
        <p:spPr>
          <a:xfrm>
            <a:off x="6117336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1" name="Shape 66"/>
          <p:cNvSpPr/>
          <p:nvPr/>
        </p:nvSpPr>
        <p:spPr>
          <a:xfrm>
            <a:off x="6208776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67"/>
          <p:cNvSpPr/>
          <p:nvPr/>
        </p:nvSpPr>
        <p:spPr>
          <a:xfrm>
            <a:off x="6208776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3" name="Text 68"/>
          <p:cNvSpPr/>
          <p:nvPr/>
        </p:nvSpPr>
        <p:spPr>
          <a:xfrm>
            <a:off x="6501384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guide verifications</a:t>
            </a:r>
            <a:endParaRPr lang="en-US" sz="1150" dirty="0"/>
          </a:p>
        </p:txBody>
      </p:sp>
      <p:sp>
        <p:nvSpPr>
          <p:cNvPr id="74" name="Shape 69"/>
          <p:cNvSpPr/>
          <p:nvPr/>
        </p:nvSpPr>
        <p:spPr>
          <a:xfrm>
            <a:off x="6117336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5" name="Shape 70"/>
          <p:cNvSpPr/>
          <p:nvPr/>
        </p:nvSpPr>
        <p:spPr>
          <a:xfrm>
            <a:off x="6208776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6" name="Text 71"/>
          <p:cNvSpPr/>
          <p:nvPr/>
        </p:nvSpPr>
        <p:spPr>
          <a:xfrm>
            <a:off x="6208776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7" name="Text 72"/>
          <p:cNvSpPr/>
          <p:nvPr/>
        </p:nvSpPr>
        <p:spPr>
          <a:xfrm>
            <a:off x="6501384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 management</a:t>
            </a:r>
            <a:endParaRPr lang="en-US" sz="1150" dirty="0"/>
          </a:p>
        </p:txBody>
      </p:sp>
      <p:sp>
        <p:nvSpPr>
          <p:cNvPr id="78" name="Shape 73"/>
          <p:cNvSpPr/>
          <p:nvPr/>
        </p:nvSpPr>
        <p:spPr>
          <a:xfrm>
            <a:off x="6117336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9" name="Shape 74"/>
          <p:cNvSpPr/>
          <p:nvPr/>
        </p:nvSpPr>
        <p:spPr>
          <a:xfrm>
            <a:off x="6208776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0" name="Text 75"/>
          <p:cNvSpPr/>
          <p:nvPr/>
        </p:nvSpPr>
        <p:spPr>
          <a:xfrm>
            <a:off x="6208776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1" name="Text 76"/>
          <p:cNvSpPr/>
          <p:nvPr/>
        </p:nvSpPr>
        <p:spPr>
          <a:xfrm>
            <a:off x="6501384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150" dirty="0"/>
          </a:p>
        </p:txBody>
      </p:sp>
      <p:sp>
        <p:nvSpPr>
          <p:cNvPr id="82" name="Shape 77"/>
          <p:cNvSpPr/>
          <p:nvPr/>
        </p:nvSpPr>
        <p:spPr>
          <a:xfrm>
            <a:off x="6117336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3" name="Shape 78"/>
          <p:cNvSpPr/>
          <p:nvPr/>
        </p:nvSpPr>
        <p:spPr>
          <a:xfrm>
            <a:off x="6208776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4" name="Text 79"/>
          <p:cNvSpPr/>
          <p:nvPr/>
        </p:nvSpPr>
        <p:spPr>
          <a:xfrm>
            <a:off x="6208776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5" name="Text 80"/>
          <p:cNvSpPr/>
          <p:nvPr/>
        </p:nvSpPr>
        <p:spPr>
          <a:xfrm>
            <a:off x="6501384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/ reactivate accounts</a:t>
            </a:r>
            <a:endParaRPr lang="en-US" sz="1150" dirty="0"/>
          </a:p>
        </p:txBody>
      </p:sp>
      <p:sp>
        <p:nvSpPr>
          <p:cNvPr id="86" name="Shape 81"/>
          <p:cNvSpPr/>
          <p:nvPr/>
        </p:nvSpPr>
        <p:spPr>
          <a:xfrm>
            <a:off x="6117336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7" name="Shape 82"/>
          <p:cNvSpPr/>
          <p:nvPr/>
        </p:nvSpPr>
        <p:spPr>
          <a:xfrm>
            <a:off x="6208776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8" name="Text 83"/>
          <p:cNvSpPr/>
          <p:nvPr/>
        </p:nvSpPr>
        <p:spPr>
          <a:xfrm>
            <a:off x="6208776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9" name="Text 84"/>
          <p:cNvSpPr/>
          <p:nvPr/>
        </p:nvSpPr>
        <p:spPr>
          <a:xfrm>
            <a:off x="6501384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listing moderation</a:t>
            </a:r>
            <a:endParaRPr lang="en-US" sz="1150" dirty="0"/>
          </a:p>
        </p:txBody>
      </p:sp>
      <p:sp>
        <p:nvSpPr>
          <p:cNvPr id="90" name="Shape 85"/>
          <p:cNvSpPr/>
          <p:nvPr/>
        </p:nvSpPr>
        <p:spPr>
          <a:xfrm>
            <a:off x="6117336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1" name="Shape 86"/>
          <p:cNvSpPr/>
          <p:nvPr/>
        </p:nvSpPr>
        <p:spPr>
          <a:xfrm>
            <a:off x="6208776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2" name="Text 87"/>
          <p:cNvSpPr/>
          <p:nvPr/>
        </p:nvSpPr>
        <p:spPr>
          <a:xfrm>
            <a:off x="6208776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3" name="Text 88"/>
          <p:cNvSpPr/>
          <p:nvPr/>
        </p:nvSpPr>
        <p:spPr>
          <a:xfrm>
            <a:off x="6501384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oversight</a:t>
            </a:r>
            <a:endParaRPr lang="en-US" sz="1150" dirty="0"/>
          </a:p>
        </p:txBody>
      </p:sp>
      <p:sp>
        <p:nvSpPr>
          <p:cNvPr id="94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15 features across 3 roles delivered in 12 weeks — core user journeys complete within MVP scope.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UI Showcase</a:t>
            </a:r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All screens built and running — no mocks, no placeholders</a:t>
            </a:r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home"/>
          <p:cNvSpPr/>
          <p:nvPr/>
        </p:nvSpPr>
        <p:spPr>
          <a:xfrm>
            <a:off x="41148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Homepage</a:t>
            </a:r>
          </a:p>
        </p:txBody>
      </p:sp>
      <p:pic>
        <p:nvPicPr>
          <p:cNvPr id="6" name="img_homepage" descr="Home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05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guide"/>
          <p:cNvSpPr/>
          <p:nvPr/>
        </p:nvSpPr>
        <p:spPr>
          <a:xfrm>
            <a:off x="473252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Profile</a:t>
            </a:r>
          </a:p>
        </p:txBody>
      </p:sp>
      <p:pic>
        <p:nvPicPr>
          <p:cNvPr id="8" name="img_guide" descr="Guide Profile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70909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search"/>
          <p:cNvSpPr/>
          <p:nvPr/>
        </p:nvSpPr>
        <p:spPr>
          <a:xfrm>
            <a:off x="411480" y="2683447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Search Results</a:t>
            </a:r>
          </a:p>
        </p:txBody>
      </p:sp>
      <p:sp>
        <p:nvSpPr>
          <p:cNvPr id="11" name="Label_admin"/>
          <p:cNvSpPr/>
          <p:nvPr/>
        </p:nvSpPr>
        <p:spPr>
          <a:xfrm>
            <a:off x="4732520" y="320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 Analytics Dashboard</a:t>
            </a:r>
          </a:p>
        </p:txBody>
      </p:sp>
      <p:sp>
        <p:nvSpPr>
          <p:cNvPr id="13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Every screen shown here is live — fully functional in the browser, not a wireframe.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1C9DA09-4952-D048-FB0D-0B330E440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915730"/>
            <a:ext cx="3944982" cy="1725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99559D-1D66-761E-43B2-36C6D2F603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452700"/>
            <a:ext cx="4258492" cy="114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Demo Flow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Scenario: A tourist discovers, books, and pays a verified local guide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H5"/>
          <p:cNvSpPr/>
          <p:nvPr/>
        </p:nvSpPr>
        <p:spPr>
          <a:xfrm>
            <a:off x="411480" y="1270000"/>
            <a:ext cx="3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Step</a:t>
            </a:r>
          </a:p>
        </p:txBody>
      </p:sp>
      <p:sp>
        <p:nvSpPr>
          <p:cNvPr id="6" name="H6"/>
          <p:cNvSpPr/>
          <p:nvPr/>
        </p:nvSpPr>
        <p:spPr>
          <a:xfrm>
            <a:off x="243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Action</a:t>
            </a:r>
          </a:p>
        </p:txBody>
      </p:sp>
      <p:sp>
        <p:nvSpPr>
          <p:cNvPr id="7" name="H7"/>
          <p:cNvSpPr/>
          <p:nvPr/>
        </p:nvSpPr>
        <p:spPr>
          <a:xfrm>
            <a:off x="6051479" y="1270000"/>
            <a:ext cx="995932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What to show</a:t>
            </a:r>
          </a:p>
        </p:txBody>
      </p:sp>
      <p:sp>
        <p:nvSpPr>
          <p:cNvPr id="8" name="H8"/>
          <p:cNvSpPr/>
          <p:nvPr/>
        </p:nvSpPr>
        <p:spPr>
          <a:xfrm>
            <a:off x="817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Time</a:t>
            </a:r>
          </a:p>
        </p:txBody>
      </p:sp>
      <p:sp>
        <p:nvSpPr>
          <p:cNvPr id="9" name="RowBg9"/>
          <p:cNvSpPr/>
          <p:nvPr/>
        </p:nvSpPr>
        <p:spPr>
          <a:xfrm>
            <a:off x="411480" y="149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10"/>
          <p:cNvSpPr/>
          <p:nvPr/>
        </p:nvSpPr>
        <p:spPr>
          <a:xfrm>
            <a:off x="441480" y="152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1</a:t>
            </a:r>
          </a:p>
        </p:txBody>
      </p:sp>
      <p:sp>
        <p:nvSpPr>
          <p:cNvPr id="11" name="C11"/>
          <p:cNvSpPr/>
          <p:nvPr/>
        </p:nvSpPr>
        <p:spPr>
          <a:xfrm>
            <a:off x="2461480" y="152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searches for a guide</a:t>
            </a:r>
          </a:p>
        </p:txBody>
      </p:sp>
      <p:sp>
        <p:nvSpPr>
          <p:cNvPr id="12" name="C12"/>
          <p:cNvSpPr/>
          <p:nvPr/>
        </p:nvSpPr>
        <p:spPr>
          <a:xfrm>
            <a:off x="6081480" y="152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Open homepage → select Province/City/Category → click Search</a:t>
            </a:r>
          </a:p>
        </p:txBody>
      </p:sp>
      <p:sp>
        <p:nvSpPr>
          <p:cNvPr id="13" name="C13"/>
          <p:cNvSpPr/>
          <p:nvPr/>
        </p:nvSpPr>
        <p:spPr>
          <a:xfrm>
            <a:off x="8201480" y="152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4" name="RowBg14"/>
          <p:cNvSpPr/>
          <p:nvPr/>
        </p:nvSpPr>
        <p:spPr>
          <a:xfrm>
            <a:off x="411480" y="211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C15"/>
          <p:cNvSpPr/>
          <p:nvPr/>
        </p:nvSpPr>
        <p:spPr>
          <a:xfrm>
            <a:off x="441480" y="214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2</a:t>
            </a:r>
          </a:p>
        </p:txBody>
      </p:sp>
      <p:sp>
        <p:nvSpPr>
          <p:cNvPr id="16" name="C16"/>
          <p:cNvSpPr/>
          <p:nvPr/>
        </p:nvSpPr>
        <p:spPr>
          <a:xfrm>
            <a:off x="2461480" y="214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views guide profile &amp; selects tour</a:t>
            </a:r>
          </a:p>
        </p:txBody>
      </p:sp>
      <p:sp>
        <p:nvSpPr>
          <p:cNvPr id="17" name="C17"/>
          <p:cNvSpPr/>
          <p:nvPr/>
        </p:nvSpPr>
        <p:spPr>
          <a:xfrm>
            <a:off x="6081480" y="214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Click guide card → view tours, price, availability → click Book</a:t>
            </a:r>
          </a:p>
        </p:txBody>
      </p:sp>
      <p:sp>
        <p:nvSpPr>
          <p:cNvPr id="18" name="C18"/>
          <p:cNvSpPr/>
          <p:nvPr/>
        </p:nvSpPr>
        <p:spPr>
          <a:xfrm>
            <a:off x="8201480" y="214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9" name="RowBg19"/>
          <p:cNvSpPr/>
          <p:nvPr/>
        </p:nvSpPr>
        <p:spPr>
          <a:xfrm>
            <a:off x="411480" y="273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20"/>
          <p:cNvSpPr/>
          <p:nvPr/>
        </p:nvSpPr>
        <p:spPr>
          <a:xfrm>
            <a:off x="441480" y="276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3</a:t>
            </a:r>
          </a:p>
        </p:txBody>
      </p:sp>
      <p:sp>
        <p:nvSpPr>
          <p:cNvPr id="21" name="C21"/>
          <p:cNvSpPr/>
          <p:nvPr/>
        </p:nvSpPr>
        <p:spPr>
          <a:xfrm>
            <a:off x="2461480" y="276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submits booking request</a:t>
            </a:r>
          </a:p>
        </p:txBody>
      </p:sp>
      <p:sp>
        <p:nvSpPr>
          <p:cNvPr id="22" name="C22"/>
          <p:cNvSpPr/>
          <p:nvPr/>
        </p:nvSpPr>
        <p:spPr>
          <a:xfrm>
            <a:off x="6081480" y="276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Select date/time/people → confirm → "Booking request submitted" toast</a:t>
            </a:r>
          </a:p>
        </p:txBody>
      </p:sp>
      <p:sp>
        <p:nvSpPr>
          <p:cNvPr id="23" name="C23"/>
          <p:cNvSpPr/>
          <p:nvPr/>
        </p:nvSpPr>
        <p:spPr>
          <a:xfrm>
            <a:off x="8201480" y="276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~20s</a:t>
            </a:r>
          </a:p>
        </p:txBody>
      </p:sp>
      <p:sp>
        <p:nvSpPr>
          <p:cNvPr id="24" name="RowBg24"/>
          <p:cNvSpPr/>
          <p:nvPr/>
        </p:nvSpPr>
        <p:spPr>
          <a:xfrm>
            <a:off x="411480" y="335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5" name="C25"/>
          <p:cNvSpPr/>
          <p:nvPr/>
        </p:nvSpPr>
        <p:spPr>
          <a:xfrm>
            <a:off x="441480" y="338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4</a:t>
            </a:r>
          </a:p>
        </p:txBody>
      </p:sp>
      <p:sp>
        <p:nvSpPr>
          <p:cNvPr id="26" name="C26"/>
          <p:cNvSpPr/>
          <p:nvPr/>
        </p:nvSpPr>
        <p:spPr>
          <a:xfrm>
            <a:off x="2461480" y="338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Guide accepts booking &amp; tourist pays</a:t>
            </a:r>
          </a:p>
        </p:txBody>
      </p:sp>
      <p:sp>
        <p:nvSpPr>
          <p:cNvPr id="27" name="C27"/>
          <p:cNvSpPr/>
          <p:nvPr/>
        </p:nvSpPr>
        <p:spPr>
          <a:xfrm>
            <a:off x="6081480" y="338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Guide dashboard → Accept → Tourist My Bookings → Pay → payment confirmed</a:t>
            </a:r>
          </a:p>
        </p:txBody>
      </p:sp>
      <p:sp>
        <p:nvSpPr>
          <p:cNvPr id="28" name="C28"/>
          <p:cNvSpPr/>
          <p:nvPr/>
        </p:nvSpPr>
        <p:spPr>
          <a:xfrm>
            <a:off x="8201480" y="338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~40s</a:t>
            </a:r>
          </a:p>
        </p:txBody>
      </p:sp>
      <p:sp>
        <p:nvSpPr>
          <p:cNvPr id="29" name="RowBg29"/>
          <p:cNvSpPr/>
          <p:nvPr/>
        </p:nvSpPr>
        <p:spPr>
          <a:xfrm>
            <a:off x="411480" y="397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30" name="C30"/>
          <p:cNvSpPr/>
          <p:nvPr/>
        </p:nvSpPr>
        <p:spPr>
          <a:xfrm>
            <a:off x="441480" y="400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5</a:t>
            </a:r>
          </a:p>
        </p:txBody>
      </p:sp>
      <p:sp>
        <p:nvSpPr>
          <p:cNvPr id="31" name="C31"/>
          <p:cNvSpPr/>
          <p:nvPr/>
        </p:nvSpPr>
        <p:spPr>
          <a:xfrm>
            <a:off x="2461480" y="400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Booking confirmed — status machine fires</a:t>
            </a:r>
          </a:p>
        </p:txBody>
      </p:sp>
      <p:sp>
        <p:nvSpPr>
          <p:cNvPr id="32" name="C32"/>
          <p:cNvSpPr/>
          <p:nvPr/>
        </p:nvSpPr>
        <p:spPr>
          <a:xfrm>
            <a:off x="6081480" y="400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Status: PENDING → CONFIRMED → Payment Intent ID visible on booking detail</a:t>
            </a:r>
          </a:p>
        </p:txBody>
      </p:sp>
      <p:sp>
        <p:nvSpPr>
          <p:cNvPr id="33" name="C33"/>
          <p:cNvSpPr/>
          <p:nvPr/>
        </p:nvSpPr>
        <p:spPr>
          <a:xfrm>
            <a:off x="8201480" y="400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~15s</a:t>
            </a:r>
          </a:p>
        </p:txBody>
      </p:sp>
      <p:sp>
        <p:nvSpPr>
          <p:cNvPr id="34" name="TK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Total demo time ~2.5 minutes. All 5 steps run on localhost — no external dependencies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Booking 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CA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→ Booking Request → Guide Accepts → Payment Simulation → Confirmed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61701" y="1261872"/>
            <a:ext cx="1103809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930073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18317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0117" y="1838843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752" y="2314331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· category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filter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71388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82684" y="1261872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2254648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2280776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02082" y="18532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47810" y="2314787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calendar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36207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38286" y="1272421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3624862" y="1348839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3606653" y="13454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036207" y="185763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12877" y="230695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CREATED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3009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30210" y="1268403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4974353" y="1347395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4974353" y="13473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398272" y="184117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79035" y="2304952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→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PENDING_PAYMENT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86690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29173" y="1275715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6310520" y="1340814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310520" y="13487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10357" y="183555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42045" y="2337356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3017520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Status Machine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965960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66744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IN_PROGRESS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67528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3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068312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1480" y="389534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Choices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1480" y="4195333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1" name="Text 49"/>
          <p:cNvSpPr/>
          <p:nvPr/>
        </p:nvSpPr>
        <p:spPr>
          <a:xfrm>
            <a:off x="694944" y="4177045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JWT auth · role-based guards on all endpoints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11480" y="4433077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51"/>
          <p:cNvSpPr/>
          <p:nvPr/>
        </p:nvSpPr>
        <p:spPr>
          <a:xfrm>
            <a:off x="694944" y="4414789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layered separation: Controller → Service → Repository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11480" y="4670821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5" name="Text 53"/>
          <p:cNvSpPr/>
          <p:nvPr/>
        </p:nvSpPr>
        <p:spPr>
          <a:xfrm>
            <a:off x="694944" y="4652533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PaymentGatewayPort: stub now, Stripe SDK in Phase 2</a:t>
            </a:r>
            <a:endParaRPr lang="en-US" sz="1200" dirty="0"/>
          </a:p>
        </p:txBody>
      </p:sp>
      <p:pic>
        <p:nvPicPr>
          <p:cNvPr id="56" name="payment_page" descr="Payment 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000" y="4047229"/>
            <a:ext cx="2400000" cy="89904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57" name="booking_confirmed" descr="Booking Confirmed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000" y="3957589"/>
            <a:ext cx="1800000" cy="107832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58" name="Takeaway"/>
          <p:cNvSpPr/>
          <p:nvPr/>
        </p:nvSpPr>
        <p:spPr>
          <a:xfrm>
            <a:off x="304364" y="4845814"/>
            <a:ext cx="8787384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 tourist can go from search to confirmed booking in under 3 steps</a:t>
            </a:r>
            <a:r>
              <a:rPr lang="zh-CN" altLang="en-US" sz="1300" b="1" dirty="0">
                <a:solidFill>
                  <a:srgbClr val="2A7F85"/>
                </a:solidFill>
                <a:latin typeface="Calibri" pitchFamily="34" charset="0"/>
              </a:rPr>
              <a:t>，</a:t>
            </a: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payment layer is already Stripe-ready.</a:t>
            </a: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AC96BBE7-AF2D-8153-7EAC-F87E392B03BB}"/>
              </a:ext>
            </a:extLst>
          </p:cNvPr>
          <p:cNvSpPr/>
          <p:nvPr/>
        </p:nvSpPr>
        <p:spPr>
          <a:xfrm>
            <a:off x="7209506" y="1905179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B1ECC2E3-E6B1-A076-CA46-3E4C004AA52D}"/>
              </a:ext>
            </a:extLst>
          </p:cNvPr>
          <p:cNvSpPr/>
          <p:nvPr/>
        </p:nvSpPr>
        <p:spPr>
          <a:xfrm>
            <a:off x="7469037" y="1264077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Shape 28">
            <a:extLst>
              <a:ext uri="{FF2B5EF4-FFF2-40B4-BE49-F238E27FC236}">
                <a16:creationId xmlns:a16="http://schemas.microsoft.com/office/drawing/2014/main" id="{E9E903D1-E067-2CEB-FFDB-7745AA28860A}"/>
              </a:ext>
            </a:extLst>
          </p:cNvPr>
          <p:cNvSpPr/>
          <p:nvPr/>
        </p:nvSpPr>
        <p:spPr>
          <a:xfrm>
            <a:off x="7827607" y="1342763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08BF44CD-6C3E-D5E3-C0C9-81D4FD6752B8}"/>
              </a:ext>
            </a:extLst>
          </p:cNvPr>
          <p:cNvSpPr/>
          <p:nvPr/>
        </p:nvSpPr>
        <p:spPr>
          <a:xfrm>
            <a:off x="7827607" y="13506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0121306D-AB12-F305-3357-12734D0EDE78}"/>
              </a:ext>
            </a:extLst>
          </p:cNvPr>
          <p:cNvSpPr/>
          <p:nvPr/>
        </p:nvSpPr>
        <p:spPr>
          <a:xfrm>
            <a:off x="7250221" y="1830409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300" dirty="0"/>
          </a:p>
        </p:txBody>
      </p:sp>
      <p:sp>
        <p:nvSpPr>
          <p:cNvPr id="64" name="Text 31">
            <a:extLst>
              <a:ext uri="{FF2B5EF4-FFF2-40B4-BE49-F238E27FC236}">
                <a16:creationId xmlns:a16="http://schemas.microsoft.com/office/drawing/2014/main" id="{38499EA6-98C8-6B73-03B6-C207B6D2609E}"/>
              </a:ext>
            </a:extLst>
          </p:cNvPr>
          <p:cNvSpPr/>
          <p:nvPr/>
        </p:nvSpPr>
        <p:spPr>
          <a:xfrm>
            <a:off x="7333488" y="2312379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tour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end-to-end testing in local/dev environment · 29/29 test cases passed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41148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1148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Test Cases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251460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51460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Tests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61772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61772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72084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72084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 Classes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359152"/>
            <a:ext cx="347472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521208" y="2359152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 Scenario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86200" y="2359152"/>
            <a:ext cx="8229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3995928" y="235915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Result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2359152"/>
            <a:ext cx="40233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18888" y="235915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Verification Note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274320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39496" y="27432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Register / Login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886200" y="274320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014216" y="27432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274320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4837176" y="27432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issued · TOURIST role assigned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304038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539496" y="304038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Search (city + category)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886200" y="304038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014216" y="304038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304038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37176" y="304038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filtered, paginated correctly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11480" y="333756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39496" y="333756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Payment Stub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886200" y="333756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014216" y="333756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333756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37176" y="333756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fires · status → CONFIRMED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11480" y="363474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539496" y="363474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Accept / Decline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886200" y="363474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014216" y="363474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09160" y="363474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837176" y="363474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status transitions validated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11480" y="393192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39496" y="393192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 / Reject Guide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886200" y="393192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4014216" y="393192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709160" y="393192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37176" y="393192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verificationStatus field updated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11480" y="422910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539496" y="42291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Webhook Payload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886200" y="422910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014216" y="42291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709160" y="422910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4837176" y="42291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error · no state mutation</a:t>
            </a:r>
            <a:endParaRPr lang="en-US" sz="1100" dirty="0"/>
          </a:p>
        </p:txBody>
      </p:sp>
      <p:sp>
        <p:nvSpPr>
          <p:cNvPr id="71" name="Takeaway"/>
          <p:cNvSpPr/>
          <p:nvPr/>
        </p:nvSpPr>
        <p:spPr>
          <a:xfrm>
            <a:off x="411480" y="458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29/29 passed in local dev. Scope: full user journey from registration to post-tour review.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Security NFRs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in local dev test environment — production performance may vary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402336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Performance KPIs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18288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21208" y="166420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Metric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40280" y="1664208"/>
            <a:ext cx="914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2350008" y="166420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664208"/>
            <a:ext cx="128016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264408" y="1664208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Achieved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1993392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1993392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40280" y="1993392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2368296" y="1993392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4680" y="1993392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282696" y="1993392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~1.2s ✓ (local dev)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468880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2468880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Response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40280" y="2468880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2368296" y="246888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500ms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154680" y="2468880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282696" y="2468880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~300ms ✓ (local dev)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2944368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2944368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Flow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40280" y="2944368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2368296" y="2944368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54680" y="2944368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282696" y="2944368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~1.8s ✓ (local dev)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11480" y="3419856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39496" y="3419856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240280" y="3419856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2368296" y="3419856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98%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154680" y="3419856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282696" y="3419856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✓ (dev stub)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1261872"/>
            <a:ext cx="397764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864608" y="1261872"/>
            <a:ext cx="3867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Security &amp; Reliability NFRs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754880" y="1664208"/>
            <a:ext cx="192024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64608" y="166420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NFR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75120" y="1664208"/>
            <a:ext cx="2057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6784848" y="1664208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Value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754880" y="1993392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882896" y="199339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675120" y="1993392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6803136" y="19933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754880" y="2322576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4882896" y="232257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675120" y="2322576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6803136" y="232257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 expiry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754880" y="2651760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82896" y="265176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675120" y="2651760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6803136" y="265176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4754880" y="2980944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882896" y="2980944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SLA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675120" y="2980944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6803136" y="2980944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99.5%/month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754880" y="3310128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Text 58"/>
          <p:cNvSpPr/>
          <p:nvPr/>
        </p:nvSpPr>
        <p:spPr>
          <a:xfrm>
            <a:off x="4882896" y="3310128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675120" y="3310128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60"/>
          <p:cNvSpPr/>
          <p:nvPr/>
        </p:nvSpPr>
        <p:spPr>
          <a:xfrm>
            <a:off x="6803136" y="3310128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minutes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754880" y="3639312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Text 62"/>
          <p:cNvSpPr/>
          <p:nvPr/>
        </p:nvSpPr>
        <p:spPr>
          <a:xfrm>
            <a:off x="4882896" y="363931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675120" y="3639312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6" name="Text 64"/>
          <p:cNvSpPr/>
          <p:nvPr/>
        </p:nvSpPr>
        <p:spPr>
          <a:xfrm>
            <a:off x="6803136" y="363931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4754880" y="3968496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8" name="Text 66"/>
          <p:cNvSpPr/>
          <p:nvPr/>
        </p:nvSpPr>
        <p:spPr>
          <a:xfrm>
            <a:off x="4882896" y="396849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 compliance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675120" y="3968496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0" name="Text 68"/>
          <p:cNvSpPr/>
          <p:nvPr/>
        </p:nvSpPr>
        <p:spPr>
          <a:xfrm>
            <a:off x="6803136" y="396849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privacy standard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754880" y="4297680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70"/>
          <p:cNvSpPr/>
          <p:nvPr/>
        </p:nvSpPr>
        <p:spPr>
          <a:xfrm>
            <a:off x="4882896" y="42976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6675120" y="4297680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4" name="Text 72"/>
          <p:cNvSpPr/>
          <p:nvPr/>
        </p:nvSpPr>
        <p:spPr>
          <a:xfrm>
            <a:off x="6803136" y="429768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roles enforced</a:t>
            </a:r>
            <a:endParaRPr lang="en-US" sz="1150" dirty="0"/>
          </a:p>
        </p:txBody>
      </p:sp>
      <p:sp>
        <p:nvSpPr>
          <p:cNvPr id="75" name="Takeaway"/>
          <p:cNvSpPr/>
          <p:nvPr/>
        </p:nvSpPr>
        <p:spPr>
          <a:xfrm>
            <a:off x="411479" y="4621088"/>
            <a:ext cx="8536577" cy="438912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All targets met in local dev test environment. Page ~1.2s, search ~300ms, payment ~1.8s. Payment stub: 100% success.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Security &amp; Reliability NFRs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Security hardened from day one · Canadian privacy compliance · Reliability targets defined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CB5"/>
          <p:cNvSpPr/>
          <p:nvPr/>
        </p:nvSpPr>
        <p:spPr>
          <a:xfrm>
            <a:off x="411480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CT5"/>
          <p:cNvSpPr/>
          <p:nvPr/>
        </p:nvSpPr>
        <p:spPr>
          <a:xfrm>
            <a:off x="481480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BCrypt Passwords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Industry-standard hashing — no plain-text passwords ever stored or transmitted.</a:t>
            </a:r>
          </a:p>
        </p:txBody>
      </p:sp>
      <p:sp>
        <p:nvSpPr>
          <p:cNvPr id="7" name="CB7"/>
          <p:cNvSpPr/>
          <p:nvPr/>
        </p:nvSpPr>
        <p:spPr>
          <a:xfrm>
            <a:off x="3218493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T7"/>
          <p:cNvSpPr/>
          <p:nvPr/>
        </p:nvSpPr>
        <p:spPr>
          <a:xfrm>
            <a:off x="3288493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JWT Token Lifecycle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Access: 1h expiry. Refresh: 30 days. Short-lived access minimises breach window.</a:t>
            </a:r>
          </a:p>
        </p:txBody>
      </p:sp>
      <p:sp>
        <p:nvSpPr>
          <p:cNvPr id="9" name="CB9"/>
          <p:cNvSpPr/>
          <p:nvPr/>
        </p:nvSpPr>
        <p:spPr>
          <a:xfrm>
            <a:off x="6025506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T9"/>
          <p:cNvSpPr/>
          <p:nvPr/>
        </p:nvSpPr>
        <p:spPr>
          <a:xfrm>
            <a:off x="6095506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COMPLIANCE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PIPEDA (Canada)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Privacy by design. Minimal data collection. User consent enforced at registration.</a:t>
            </a:r>
          </a:p>
        </p:txBody>
      </p:sp>
      <p:sp>
        <p:nvSpPr>
          <p:cNvPr id="11" name="CB11"/>
          <p:cNvSpPr/>
          <p:nvPr/>
        </p:nvSpPr>
        <p:spPr>
          <a:xfrm>
            <a:off x="411480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T11"/>
          <p:cNvSpPr/>
          <p:nvPr/>
        </p:nvSpPr>
        <p:spPr>
          <a:xfrm>
            <a:off x="481480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AVAILABILITY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99.5% Uptime SLA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Monthly uptime target. AWS EC2 deployment with defined restart procedures.</a:t>
            </a:r>
          </a:p>
        </p:txBody>
      </p:sp>
      <p:sp>
        <p:nvSpPr>
          <p:cNvPr id="13" name="CB13"/>
          <p:cNvSpPr/>
          <p:nvPr/>
        </p:nvSpPr>
        <p:spPr>
          <a:xfrm>
            <a:off x="3218493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T13"/>
          <p:cNvSpPr/>
          <p:nvPr/>
        </p:nvSpPr>
        <p:spPr>
          <a:xfrm>
            <a:off x="3288493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RELIABILITY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MTTR &lt; 30 min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Mean time to recovery target. CI pipeline catches regressions before production.</a:t>
            </a:r>
          </a:p>
        </p:txBody>
      </p:sp>
      <p:sp>
        <p:nvSpPr>
          <p:cNvPr id="15" name="CB15"/>
          <p:cNvSpPr/>
          <p:nvPr/>
        </p:nvSpPr>
        <p:spPr>
          <a:xfrm>
            <a:off x="6025506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T15"/>
          <p:cNvSpPr/>
          <p:nvPr/>
        </p:nvSpPr>
        <p:spPr>
          <a:xfrm>
            <a:off x="6095506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ACCESS CONTROL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Role-Based Guards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 / Guide / Admin roles enforced on every single API endpoint.</a:t>
            </a:r>
          </a:p>
        </p:txBody>
      </p:sp>
      <p:sp>
        <p:nvSpPr>
          <p:cNvPr id="17" name="Takeaway"/>
          <p:cNvSpPr/>
          <p:nvPr/>
        </p:nvSpPr>
        <p:spPr>
          <a:xfrm>
            <a:off x="411480" y="4610000"/>
            <a:ext cx="859536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Security is not an afterthought — auth, access control, and PIPEDA compliance are built in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Deployment &amp; Next Steps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Current deployment state · Phase 2 backlog · Production roadmap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NowHdr"/>
          <p:cNvSpPr/>
          <p:nvPr/>
        </p:nvSpPr>
        <p:spPr>
          <a:xfrm>
            <a:off x="411480" y="1270000"/>
            <a:ext cx="4160000" cy="220000"/>
          </a:xfrm>
          <a:prstGeom prst="rect">
            <a:avLst/>
          </a:prstGeom>
          <a:solidFill>
            <a:srgbClr val="2A7F85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💻  Current State (Local Dev)</a:t>
            </a:r>
          </a:p>
        </p:txBody>
      </p:sp>
      <p:sp>
        <p:nvSpPr>
          <p:cNvPr id="6" name="Phase2Hdr"/>
          <p:cNvSpPr/>
          <p:nvPr/>
        </p:nvSpPr>
        <p:spPr>
          <a:xfrm>
            <a:off x="4786480" y="1270000"/>
            <a:ext cx="4160000" cy="220000"/>
          </a:xfrm>
          <a:prstGeom prst="rect">
            <a:avLst/>
          </a:prstGeom>
          <a:solidFill>
            <a:srgbClr val="DD6B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🚀  Phase 2 — Production Deployment</a:t>
            </a:r>
          </a:p>
        </p:txBody>
      </p:sp>
      <p:sp>
        <p:nvSpPr>
          <p:cNvPr id="7" name="CI7"/>
          <p:cNvSpPr/>
          <p:nvPr/>
        </p:nvSpPr>
        <p:spPr>
          <a:xfrm>
            <a:off x="411480" y="1510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IT7"/>
          <p:cNvSpPr/>
          <p:nvPr/>
        </p:nvSpPr>
        <p:spPr>
          <a:xfrm>
            <a:off x="481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Spring Boot on localhost:8080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H2 in-memory DB — resets on restart</a:t>
            </a:r>
          </a:p>
        </p:txBody>
      </p:sp>
      <p:sp>
        <p:nvSpPr>
          <p:cNvPr id="9" name="CI9"/>
          <p:cNvSpPr/>
          <p:nvPr/>
        </p:nvSpPr>
        <p:spPr>
          <a:xfrm>
            <a:off x="411480" y="2018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IT9"/>
          <p:cNvSpPr/>
          <p:nvPr/>
        </p:nvSpPr>
        <p:spPr>
          <a:xfrm>
            <a:off x="481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Vue.js frontend on localhost:5173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Axios/JWT auth — all API calls work</a:t>
            </a:r>
          </a:p>
        </p:txBody>
      </p:sp>
      <p:sp>
        <p:nvSpPr>
          <p:cNvPr id="11" name="CI11"/>
          <p:cNvSpPr/>
          <p:nvPr/>
        </p:nvSpPr>
        <p:spPr>
          <a:xfrm>
            <a:off x="411480" y="2526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IT11"/>
          <p:cNvSpPr/>
          <p:nvPr/>
        </p:nvSpPr>
        <p:spPr>
          <a:xfrm>
            <a:off x="481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GitHub Actions CI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Build + test runs on every push to main</a:t>
            </a:r>
          </a:p>
        </p:txBody>
      </p:sp>
      <p:sp>
        <p:nvSpPr>
          <p:cNvPr id="13" name="CI13"/>
          <p:cNvSpPr/>
          <p:nvPr/>
        </p:nvSpPr>
        <p:spPr>
          <a:xfrm>
            <a:off x="411480" y="3034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IT13"/>
          <p:cNvSpPr/>
          <p:nvPr/>
        </p:nvSpPr>
        <p:spPr>
          <a:xfrm>
            <a:off x="481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PaymentGatewayPort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Simulates Stripe webhook — no real charges</a:t>
            </a:r>
          </a:p>
        </p:txBody>
      </p:sp>
      <p:sp>
        <p:nvSpPr>
          <p:cNvPr id="15" name="CI15"/>
          <p:cNvSpPr/>
          <p:nvPr/>
        </p:nvSpPr>
        <p:spPr>
          <a:xfrm>
            <a:off x="411480" y="3542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IT15"/>
          <p:cNvSpPr/>
          <p:nvPr/>
        </p:nvSpPr>
        <p:spPr>
          <a:xfrm>
            <a:off x="481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NotificationPort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Logs email events — no real delivery</a:t>
            </a:r>
          </a:p>
        </p:txBody>
      </p:sp>
      <p:sp>
        <p:nvSpPr>
          <p:cNvPr id="17" name="CI17"/>
          <p:cNvSpPr/>
          <p:nvPr/>
        </p:nvSpPr>
        <p:spPr>
          <a:xfrm>
            <a:off x="4786480" y="151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CIT17"/>
          <p:cNvSpPr/>
          <p:nvPr/>
        </p:nvSpPr>
        <p:spPr>
          <a:xfrm>
            <a:off x="4856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AWS EC2 deployment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Ubuntu server, Nginx reverse proxy, HTTPS</a:t>
            </a:r>
          </a:p>
        </p:txBody>
      </p:sp>
      <p:sp>
        <p:nvSpPr>
          <p:cNvPr id="19" name="CI19"/>
          <p:cNvSpPr/>
          <p:nvPr/>
        </p:nvSpPr>
        <p:spPr>
          <a:xfrm>
            <a:off x="4786480" y="2018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IT19"/>
          <p:cNvSpPr/>
          <p:nvPr/>
        </p:nvSpPr>
        <p:spPr>
          <a:xfrm>
            <a:off x="4856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MySQL 8.0 on RDS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Replace H2 — persistent production data</a:t>
            </a:r>
          </a:p>
        </p:txBody>
      </p:sp>
      <p:sp>
        <p:nvSpPr>
          <p:cNvPr id="21" name="CI21"/>
          <p:cNvSpPr/>
          <p:nvPr/>
        </p:nvSpPr>
        <p:spPr>
          <a:xfrm>
            <a:off x="4786480" y="2526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2" name="CIT21"/>
          <p:cNvSpPr/>
          <p:nvPr/>
        </p:nvSpPr>
        <p:spPr>
          <a:xfrm>
            <a:off x="4856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Stripe SDK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real card processing live</a:t>
            </a:r>
          </a:p>
        </p:txBody>
      </p:sp>
      <p:sp>
        <p:nvSpPr>
          <p:cNvPr id="23" name="CI23"/>
          <p:cNvSpPr/>
          <p:nvPr/>
        </p:nvSpPr>
        <p:spPr>
          <a:xfrm>
            <a:off x="4786480" y="3034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CIT23"/>
          <p:cNvSpPr/>
          <p:nvPr/>
        </p:nvSpPr>
        <p:spPr>
          <a:xfrm>
            <a:off x="4856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SendGrid email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booking confirmation emails</a:t>
            </a:r>
          </a:p>
        </p:txBody>
      </p:sp>
      <p:sp>
        <p:nvSpPr>
          <p:cNvPr id="25" name="CI25"/>
          <p:cNvSpPr/>
          <p:nvPr/>
        </p:nvSpPr>
        <p:spPr>
          <a:xfrm>
            <a:off x="4786480" y="3542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6" name="CIT25"/>
          <p:cNvSpPr/>
          <p:nvPr/>
        </p:nvSpPr>
        <p:spPr>
          <a:xfrm>
            <a:off x="4856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Docker + CI/CD pipeline (planned)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Target state: auto-deploy on merge to main</a:t>
            </a:r>
          </a:p>
        </p:txBody>
      </p:sp>
      <p:sp>
        <p:nvSpPr>
          <p:cNvPr id="27" name="CI27"/>
          <p:cNvSpPr/>
          <p:nvPr/>
        </p:nvSpPr>
        <p:spPr>
          <a:xfrm>
            <a:off x="4786480" y="405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8" name="CIT27"/>
          <p:cNvSpPr/>
          <p:nvPr/>
        </p:nvSpPr>
        <p:spPr>
          <a:xfrm>
            <a:off x="4856480" y="408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GPS map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Guide location display on search results</a:t>
            </a:r>
          </a:p>
        </p:txBody>
      </p:sp>
      <p:sp>
        <p:nvSpPr>
          <p:cNvPr id="29" name="TK"/>
          <p:cNvSpPr/>
          <p:nvPr/>
        </p:nvSpPr>
        <p:spPr>
          <a:xfrm>
            <a:off x="411479" y="4760000"/>
            <a:ext cx="8582297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The system is deployment-ready — AWS EC2 target is defined. Phase 2 is a config change, not a rewrite.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Use Case 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Tourist  ·  Guide  ·  Administrator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Tourist</a:t>
            </a:r>
          </a:p>
        </p:txBody>
      </p:sp>
      <p:pic>
        <p:nvPicPr>
          <p:cNvPr id="6" name="uc_tour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2700000" cy="141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3193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</a:t>
            </a:r>
          </a:p>
        </p:txBody>
      </p:sp>
      <p:pic>
        <p:nvPicPr>
          <p:cNvPr id="8" name="uc_gui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480" y="1400000"/>
            <a:ext cx="2700000" cy="194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5975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Administrator</a:t>
            </a:r>
          </a:p>
        </p:txBody>
      </p:sp>
      <p:pic>
        <p:nvPicPr>
          <p:cNvPr id="10" name="uc_adm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480" y="1400000"/>
            <a:ext cx="2700000" cy="248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Booking Flow — Live Screenshots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My Bookings  →  Pending → Payment  →  Confirmed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1  My Bookings (Pending Payment)</a:t>
            </a:r>
          </a:p>
        </p:txBody>
      </p:sp>
      <p:pic>
        <p:nvPicPr>
          <p:cNvPr id="6" name="my_book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90973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2  Payment Page (Stripe Stub)</a:t>
            </a:r>
          </a:p>
        </p:txBody>
      </p:sp>
      <p:pic>
        <p:nvPicPr>
          <p:cNvPr id="8" name="payment_p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9840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273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3  Payment Completed</a:t>
            </a:r>
          </a:p>
        </p:txBody>
      </p:sp>
      <p:pic>
        <p:nvPicPr>
          <p:cNvPr id="10" name="payment_comple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898404"/>
            <a:ext cx="4000000" cy="1928393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4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4  Booking Confirmed</a:t>
            </a:r>
          </a:p>
        </p:txBody>
      </p:sp>
      <p:pic>
        <p:nvPicPr>
          <p:cNvPr id="12" name="booking_detai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08404"/>
            <a:ext cx="4000000" cy="145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Guide Portal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Dashboard  ·  Verification  ·  Tour Management  ·  Availability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Dashboard</a:t>
            </a:r>
          </a:p>
        </p:txBody>
      </p:sp>
      <p:pic>
        <p:nvPicPr>
          <p:cNvPr id="6" name="guide_da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50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Verification Submission</a:t>
            </a:r>
          </a:p>
        </p:txBody>
      </p:sp>
      <p:pic>
        <p:nvPicPr>
          <p:cNvPr id="8" name="guide_ver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2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 Management</a:t>
            </a:r>
          </a:p>
        </p:txBody>
      </p:sp>
      <p:pic>
        <p:nvPicPr>
          <p:cNvPr id="10" name="tour_mgm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262252"/>
            <a:ext cx="4000000" cy="121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Availability Calendar</a:t>
            </a:r>
          </a:p>
        </p:txBody>
      </p:sp>
      <p:pic>
        <p:nvPicPr>
          <p:cNvPr id="12" name="avail_c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62252"/>
            <a:ext cx="4000000" cy="157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Admin Panel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User Management  ·  Account Suspension  ·  Platform Oversight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1867662" y="1220000"/>
            <a:ext cx="5408676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User Management Table</a:t>
            </a:r>
          </a:p>
        </p:txBody>
      </p:sp>
      <p:pic>
        <p:nvPicPr>
          <p:cNvPr id="6" name="admin_user_mgm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62" y="1400000"/>
            <a:ext cx="5408676" cy="1964025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11480" y="3514025"/>
            <a:ext cx="832104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Account Suspended — Row Detail</a:t>
            </a:r>
          </a:p>
        </p:txBody>
      </p:sp>
      <p:pic>
        <p:nvPicPr>
          <p:cNvPr id="8" name="admin_susp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211" y="3824025"/>
            <a:ext cx="7210697" cy="1146562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— MVP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 ·  CSIS 3275-003  ·  Group 3  ·  Spring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760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760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C2C platform — Tourist, Guide &amp; Admin roles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47548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9194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9194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Invested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194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engineers × 12 weeks × Agile/Scrum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Shape 14"/>
          <p:cNvSpPr/>
          <p:nvPr/>
        </p:nvSpPr>
        <p:spPr>
          <a:xfrm>
            <a:off x="4114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5760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29/29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60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60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user story + 8 edge cases — zero failures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9"/>
          <p:cNvSpPr/>
          <p:nvPr/>
        </p:nvSpPr>
        <p:spPr>
          <a:xfrm>
            <a:off x="47548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9194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9194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OTA Standard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194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OTAs charge 20–30%. We charge 12%. Guides keep 88%.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11480" y="4663440"/>
            <a:ext cx="54864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runs end-to-end in local environment. Stripe, email &amp; GPS are Phase 2 targets.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0234" y="4814489"/>
            <a:ext cx="39319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8E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github.com/10000Katherine/LocalGuide_Software-Engineering</a:t>
            </a:r>
            <a:endParaRPr lang="en-US" sz="1100" dirty="0"/>
          </a:p>
        </p:txBody>
      </p:sp>
      <p:sp>
        <p:nvSpPr>
          <p:cNvPr id="28" name="Closing"/>
          <p:cNvSpPr/>
          <p:nvPr/>
        </p:nvSpPr>
        <p:spPr>
          <a:xfrm>
            <a:off x="411480" y="4210985"/>
            <a:ext cx="8321040" cy="38000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Core MVP validated in local dev. Production deployment is Phase 2. Thank you.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2976E-C90E-1EE0-352E-EB878AE68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A011CD97-6CE9-48C3-E0BD-4B48F3392C71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7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9BCB291-3986-D05B-39F3-D3FF0D3BE4BA}"/>
              </a:ext>
            </a:extLst>
          </p:cNvPr>
          <p:cNvSpPr/>
          <p:nvPr/>
        </p:nvSpPr>
        <p:spPr>
          <a:xfrm>
            <a:off x="1135161" y="2315391"/>
            <a:ext cx="7512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do the web presentation!!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40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AA518-D482-769E-FE2B-2E82D5663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F47E9BD2-E6B8-75F3-833B-F6839DD36B48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7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14CA6E1-548F-3E81-E30C-167FA92BE252}"/>
              </a:ext>
            </a:extLst>
          </p:cNvPr>
          <p:cNvSpPr/>
          <p:nvPr/>
        </p:nvSpPr>
        <p:spPr>
          <a:xfrm>
            <a:off x="1239665" y="2297430"/>
            <a:ext cx="678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60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-Question time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5006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1843</Words>
  <Application>Microsoft Office PowerPoint</Application>
  <PresentationFormat>On-screen Show (16:9)</PresentationFormat>
  <Paragraphs>398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LocalGuide Connect — Final Presentation</dc:title>
  <dc:subject>PptxGenJS Presentation</dc:subject>
  <dc:creator>PptxGenJS</dc:creator>
  <cp:lastModifiedBy>Zhi Kang</cp:lastModifiedBy>
  <cp:revision>14</cp:revision>
  <dcterms:created xsi:type="dcterms:W3CDTF">2026-04-01T18:22:19Z</dcterms:created>
  <dcterms:modified xsi:type="dcterms:W3CDTF">2026-04-08T22:07:26Z</dcterms:modified>
</cp:coreProperties>
</file>