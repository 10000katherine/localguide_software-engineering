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72" r:id="rId5"/>
    <p:sldId id="259" r:id="rId6"/>
    <p:sldId id="260" r:id="rId7"/>
    <p:sldId id="265" r:id="rId8"/>
    <p:sldId id="273" r:id="rId9"/>
    <p:sldId id="261" r:id="rId10"/>
    <p:sldId id="262" r:id="rId11"/>
    <p:sldId id="263" r:id="rId12"/>
    <p:sldId id="271" r:id="rId13"/>
    <p:sldId id="274" r:id="rId14"/>
    <p:sldId id="266" r:id="rId15"/>
    <p:sldId id="267" r:id="rId16"/>
    <p:sldId id="268" r:id="rId17"/>
    <p:sldId id="269" r:id="rId18"/>
    <p:sldId id="264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142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1480" y="256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2026  ·  Douglas College  ·  CSIS 3275-001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1097280" cy="1097280"/>
          </a:xfrm>
          <a:prstGeom prst="line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207008"/>
            <a:ext cx="694944" cy="6949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96012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LocalGuide Connect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737360" y="1719072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11480" y="2377440"/>
            <a:ext cx="8321040" cy="36576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411480" y="25420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  ·  Zhi Kang  ·  Aarti Pandya  ·  Sehjalpreet  ·  Dong Zhang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11480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411480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3.3.2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32888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0"/>
          <p:cNvSpPr/>
          <p:nvPr/>
        </p:nvSpPr>
        <p:spPr>
          <a:xfrm>
            <a:off x="2532888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3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54296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2"/>
          <p:cNvSpPr/>
          <p:nvPr/>
        </p:nvSpPr>
        <p:spPr>
          <a:xfrm>
            <a:off x="4654296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75704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6775704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11480" y="42062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C2C Tour Guide Booking Platform  ·  15 MVP Features  ·  12-Week Agile Cycle  ·  480 Development Hours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Solve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guides lose income. Tourists lose trust. We fix both.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393192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98448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Problem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1188720" cy="82296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539496" y="1737360"/>
            <a:ext cx="106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00200" y="173736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1728216" y="1737360"/>
            <a:ext cx="2615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lose 20–30% of every booking to OTA middlemen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633472"/>
            <a:ext cx="1188720" cy="82296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539496" y="2633472"/>
            <a:ext cx="106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600200" y="2633472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1728216" y="2633472"/>
            <a:ext cx="2615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contracts, no reviews, no protection — tourists can’t verify guides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3529584"/>
            <a:ext cx="1188720" cy="82296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539496" y="3529584"/>
            <a:ext cx="106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600200" y="3529584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1728216" y="3529584"/>
            <a:ext cx="2615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local guides have zero online discoverability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1298448"/>
            <a:ext cx="393192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4864608" y="1298448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Our Solution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737360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4882896" y="1737360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852160" y="1737360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5980176" y="1737360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keep 88% — vs 70–80% on OTAs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2404872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882896" y="2404872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3-Step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52160" y="2404872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5980176" y="2404872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flow confirmed in &lt; 10 minutes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3072384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4882896" y="3072384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852160" y="3072384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5980176" y="3072384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Identity-verified guides build tourist confidence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54880" y="3739896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4882896" y="3739896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Features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52160" y="3739896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5980176" y="3739896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features across Tourist, Guide &amp; Admin roles</a:t>
            </a:r>
            <a:endParaRPr lang="en-US" sz="1200" dirty="0"/>
          </a:p>
        </p:txBody>
      </p:sp>
      <p:sp>
        <p:nvSpPr>
          <p:cNvPr id="37" name="Takeaway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📌  Key Takeaway: Tourists need trust. Guides need visibility. LocalGuide Connect delivers both.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Development Process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Parallel Modules  ·  6 Sprints  ·  12 Weeks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411480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98448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Team Members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719072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539496" y="1719072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 Kang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171907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1819656" y="1719072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Lead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80360" y="1719072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3008376" y="1719072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JWT, tourist profile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523744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539496" y="2523744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Sehjalpreet</a:t>
            </a:r>
          </a:p>
        </p:txBody>
      </p:sp>
      <p:sp>
        <p:nvSpPr>
          <p:cNvPr id="15" name="Shape 13"/>
          <p:cNvSpPr/>
          <p:nvPr/>
        </p:nvSpPr>
        <p:spPr>
          <a:xfrm>
            <a:off x="1691640" y="252374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1819656" y="2523744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Lead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880360" y="2523744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3008376" y="2523744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profiles, search, calendar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3328416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39496" y="3392424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Dong Zhang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691640" y="332841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1819656" y="3328416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80360" y="3328416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008376" y="332841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flow, payment stub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133088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539496" y="4155948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Aarti Pandya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691640" y="4133088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1819656" y="4133088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Reviews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880360" y="4133088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3008376" y="413308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Reviews, admin, CI pipeline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1298448"/>
            <a:ext cx="3840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4956048" y="1298448"/>
            <a:ext cx="3730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Sprint Timeline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1719072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4974336" y="1719072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1–2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1–4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852160" y="1719072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5980176" y="1719072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JWT, DB schema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46320" y="2523744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/>
          <p:nvPr/>
        </p:nvSpPr>
        <p:spPr>
          <a:xfrm>
            <a:off x="4974336" y="2523744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3–4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5–8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852160" y="2523744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5980176" y="2523744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profiles, search, calendar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846320" y="3328416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4974336" y="3328416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9–10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852160" y="3328416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/>
          <p:nvPr/>
        </p:nvSpPr>
        <p:spPr>
          <a:xfrm>
            <a:off x="5980176" y="3328416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panel, reviews, mobile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846320" y="4133088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/>
          <p:nvPr/>
        </p:nvSpPr>
        <p:spPr>
          <a:xfrm>
            <a:off x="4974336" y="4133088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11–12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852160" y="4133088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5980176" y="4133088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CI pipeline, docs</a:t>
            </a:r>
            <a:endParaRPr lang="en-US" sz="1200" dirty="0"/>
          </a:p>
        </p:txBody>
      </p:sp>
      <p:sp>
        <p:nvSpPr>
          <p:cNvPr id="49" name="Takeaway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📌  Key Takeaway: Each engineer owned one end-to-end module — parallel delivery with zero blocking dependencies.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Current Status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What is complete · What is running · What is Phase 2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SRBox5"/>
          <p:cNvSpPr/>
          <p:nvPr/>
        </p:nvSpPr>
        <p:spPr>
          <a:xfrm>
            <a:off x="411480" y="1250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6" name="SRTxt5"/>
          <p:cNvSpPr/>
          <p:nvPr/>
        </p:nvSpPr>
        <p:spPr>
          <a:xfrm>
            <a:off x="501480" y="1290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15 Core Features Implemented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Tourist, Guide &amp; Admin flows — all built and functional</a:t>
            </a:r>
          </a:p>
        </p:txBody>
      </p:sp>
      <p:sp>
        <p:nvSpPr>
          <p:cNvPr id="7" name="SRBadge5"/>
          <p:cNvSpPr/>
          <p:nvPr/>
        </p:nvSpPr>
        <p:spPr>
          <a:xfrm>
            <a:off x="8007531" y="1410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2A7F85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DONE</a:t>
            </a:r>
          </a:p>
        </p:txBody>
      </p:sp>
      <p:sp>
        <p:nvSpPr>
          <p:cNvPr id="8" name="SRBox8"/>
          <p:cNvSpPr/>
          <p:nvPr/>
        </p:nvSpPr>
        <p:spPr>
          <a:xfrm>
            <a:off x="411480" y="1768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9" name="SRTxt8"/>
          <p:cNvSpPr/>
          <p:nvPr/>
        </p:nvSpPr>
        <p:spPr>
          <a:xfrm>
            <a:off x="501480" y="1808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Runs in Local Dev Environment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Spring Boot + Vue.js + H2 in-memory — runnable on any dev machine</a:t>
            </a:r>
          </a:p>
        </p:txBody>
      </p:sp>
      <p:sp>
        <p:nvSpPr>
          <p:cNvPr id="10" name="SRBadge8"/>
          <p:cNvSpPr/>
          <p:nvPr/>
        </p:nvSpPr>
        <p:spPr>
          <a:xfrm>
            <a:off x="8007531" y="1928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38A169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RUNNING</a:t>
            </a:r>
          </a:p>
        </p:txBody>
      </p:sp>
      <p:sp>
        <p:nvSpPr>
          <p:cNvPr id="11" name="SRBox11"/>
          <p:cNvSpPr/>
          <p:nvPr/>
        </p:nvSpPr>
        <p:spPr>
          <a:xfrm>
            <a:off x="411480" y="2286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2" name="SRTxt11"/>
          <p:cNvSpPr/>
          <p:nvPr/>
        </p:nvSpPr>
        <p:spPr>
          <a:xfrm>
            <a:off x="501480" y="2326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29/29 Test Cases Passed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Manual end-to-end testing in local dev — 21 user story + 8 edge cases</a:t>
            </a:r>
          </a:p>
        </p:txBody>
      </p:sp>
      <p:sp>
        <p:nvSpPr>
          <p:cNvPr id="13" name="SRBadge11"/>
          <p:cNvSpPr/>
          <p:nvPr/>
        </p:nvSpPr>
        <p:spPr>
          <a:xfrm>
            <a:off x="8007531" y="2446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2A7F85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DONE</a:t>
            </a:r>
          </a:p>
        </p:txBody>
      </p:sp>
      <p:sp>
        <p:nvSpPr>
          <p:cNvPr id="14" name="SRBox14"/>
          <p:cNvSpPr/>
          <p:nvPr/>
        </p:nvSpPr>
        <p:spPr>
          <a:xfrm>
            <a:off x="411480" y="2804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5" name="SRTxt14"/>
          <p:cNvSpPr/>
          <p:nvPr/>
        </p:nvSpPr>
        <p:spPr>
          <a:xfrm>
            <a:off x="501480" y="2844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GitHub Actions CI Pipeline Active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Auto build + test on every push — CI checks reduce broken code risk</a:t>
            </a:r>
          </a:p>
        </p:txBody>
      </p:sp>
      <p:sp>
        <p:nvSpPr>
          <p:cNvPr id="16" name="SRBadge14"/>
          <p:cNvSpPr/>
          <p:nvPr/>
        </p:nvSpPr>
        <p:spPr>
          <a:xfrm>
            <a:off x="8007531" y="2964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2A7F85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DONE</a:t>
            </a:r>
          </a:p>
        </p:txBody>
      </p:sp>
      <p:sp>
        <p:nvSpPr>
          <p:cNvPr id="17" name="SRBox17"/>
          <p:cNvSpPr/>
          <p:nvPr/>
        </p:nvSpPr>
        <p:spPr>
          <a:xfrm>
            <a:off x="411480" y="3322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8" name="SRTxt17"/>
          <p:cNvSpPr/>
          <p:nvPr/>
        </p:nvSpPr>
        <p:spPr>
          <a:xfrm>
            <a:off x="501480" y="3362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⏳  AWS EC2 Production Deployment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Architecture designed for EC2 — not yet deployed to live server</a:t>
            </a:r>
          </a:p>
        </p:txBody>
      </p:sp>
      <p:sp>
        <p:nvSpPr>
          <p:cNvPr id="19" name="SRBadge17"/>
          <p:cNvSpPr/>
          <p:nvPr/>
        </p:nvSpPr>
        <p:spPr>
          <a:xfrm>
            <a:off x="8007531" y="3482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DD6B20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PHASE 2</a:t>
            </a:r>
          </a:p>
        </p:txBody>
      </p:sp>
      <p:sp>
        <p:nvSpPr>
          <p:cNvPr id="20" name="SRBox20"/>
          <p:cNvSpPr/>
          <p:nvPr/>
        </p:nvSpPr>
        <p:spPr>
          <a:xfrm>
            <a:off x="411480" y="3840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1" name="SRTxt20"/>
          <p:cNvSpPr/>
          <p:nvPr/>
        </p:nvSpPr>
        <p:spPr>
          <a:xfrm>
            <a:off x="501480" y="3880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⏳  Real Stripe Payment Integration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PaymentGatewayPort stub is Stripe-ready — real SDK is Phase 2</a:t>
            </a:r>
          </a:p>
        </p:txBody>
      </p:sp>
      <p:sp>
        <p:nvSpPr>
          <p:cNvPr id="22" name="SRBadge20"/>
          <p:cNvSpPr/>
          <p:nvPr/>
        </p:nvSpPr>
        <p:spPr>
          <a:xfrm>
            <a:off x="8007531" y="4000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DD6B20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PHASE 2</a:t>
            </a:r>
          </a:p>
        </p:txBody>
      </p:sp>
      <p:sp>
        <p:nvSpPr>
          <p:cNvPr id="23" name="SRBox23"/>
          <p:cNvSpPr/>
          <p:nvPr/>
        </p:nvSpPr>
        <p:spPr>
          <a:xfrm>
            <a:off x="411480" y="4358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4" name="SRTxt23"/>
          <p:cNvSpPr/>
          <p:nvPr/>
        </p:nvSpPr>
        <p:spPr>
          <a:xfrm>
            <a:off x="501480" y="4398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⏳  SendGrid Email Notifications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NotificationPort stub implemented — SendGrid wiring is Phase 2</a:t>
            </a:r>
          </a:p>
        </p:txBody>
      </p:sp>
      <p:sp>
        <p:nvSpPr>
          <p:cNvPr id="25" name="SRBadge23"/>
          <p:cNvSpPr/>
          <p:nvPr/>
        </p:nvSpPr>
        <p:spPr>
          <a:xfrm>
            <a:off x="8007531" y="4518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DD6B20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PHASE 2</a:t>
            </a:r>
          </a:p>
        </p:txBody>
      </p:sp>
      <p:sp>
        <p:nvSpPr>
          <p:cNvPr id="26" name="TK"/>
          <p:cNvSpPr/>
          <p:nvPr/>
        </p:nvSpPr>
        <p:spPr>
          <a:xfrm>
            <a:off x="13063" y="4848000"/>
            <a:ext cx="9130937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Core MVP is complete and running locally. Production deployment and real third-party integrations are Phase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running locally · deployed architecture designed for AWS EC2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2697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61872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Frontend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82496"/>
            <a:ext cx="2697480" cy="42062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737360"/>
            <a:ext cx="310896" cy="3108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" y="1682496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3 SPA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210312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539496" y="210312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UI pages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257860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0"/>
          <p:cNvSpPr/>
          <p:nvPr/>
        </p:nvSpPr>
        <p:spPr>
          <a:xfrm>
            <a:off x="539496" y="25786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+ JWT interceptor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11480" y="305409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2"/>
          <p:cNvSpPr/>
          <p:nvPr/>
        </p:nvSpPr>
        <p:spPr>
          <a:xfrm>
            <a:off x="539496" y="305409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state mgmt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11480" y="352958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539496" y="352958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/ Mobile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264408" y="1261872"/>
            <a:ext cx="2697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3374136" y="1261872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Backend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64408" y="1682496"/>
            <a:ext cx="2697480" cy="42062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737360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739896" y="1682496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3.3.2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264408" y="210312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0"/>
          <p:cNvSpPr/>
          <p:nvPr/>
        </p:nvSpPr>
        <p:spPr>
          <a:xfrm>
            <a:off x="3392424" y="210312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Java 17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3264408" y="257860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2"/>
          <p:cNvSpPr/>
          <p:nvPr/>
        </p:nvSpPr>
        <p:spPr>
          <a:xfrm>
            <a:off x="3392424" y="25786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AuthFilter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3264408" y="305409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4"/>
          <p:cNvSpPr/>
          <p:nvPr/>
        </p:nvSpPr>
        <p:spPr>
          <a:xfrm>
            <a:off x="3392424" y="305409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 → Repo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264408" y="352958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6"/>
          <p:cNvSpPr/>
          <p:nvPr/>
        </p:nvSpPr>
        <p:spPr>
          <a:xfrm>
            <a:off x="3392424" y="352958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YAML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117336" y="1261872"/>
            <a:ext cx="2697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28"/>
          <p:cNvSpPr/>
          <p:nvPr/>
        </p:nvSpPr>
        <p:spPr>
          <a:xfrm>
            <a:off x="6227064" y="1261872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Data Layer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6117336" y="1682496"/>
            <a:ext cx="2697480" cy="42062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1737360"/>
            <a:ext cx="310896" cy="310896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6592824" y="1682496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(dev) / MySQL 8.0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6117336" y="210312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7" name="Text 32"/>
          <p:cNvSpPr/>
          <p:nvPr/>
        </p:nvSpPr>
        <p:spPr>
          <a:xfrm>
            <a:off x="6245352" y="210312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8-table schema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117336" y="257860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9" name="Text 34"/>
          <p:cNvSpPr/>
          <p:nvPr/>
        </p:nvSpPr>
        <p:spPr>
          <a:xfrm>
            <a:off x="6245352" y="25786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Repository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6117336" y="305409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Text 36"/>
          <p:cNvSpPr/>
          <p:nvPr/>
        </p:nvSpPr>
        <p:spPr>
          <a:xfrm>
            <a:off x="6245352" y="305409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(dev)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6117336" y="352958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3" name="Text 38"/>
          <p:cNvSpPr/>
          <p:nvPr/>
        </p:nvSpPr>
        <p:spPr>
          <a:xfrm>
            <a:off x="6245352" y="352958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(prod)</a:t>
            </a:r>
            <a:endParaRPr lang="en-US" sz="1200" dirty="0"/>
          </a:p>
        </p:txBody>
      </p:sp>
      <p:sp>
        <p:nvSpPr>
          <p:cNvPr id="44" name="Text 39"/>
          <p:cNvSpPr/>
          <p:nvPr/>
        </p:nvSpPr>
        <p:spPr>
          <a:xfrm>
            <a:off x="411480" y="40965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concerns:</a:t>
            </a:r>
            <a:endParaRPr lang="en-US" sz="1200" dirty="0"/>
          </a:p>
        </p:txBody>
      </p:sp>
      <p:sp>
        <p:nvSpPr>
          <p:cNvPr id="45" name="Shape 40"/>
          <p:cNvSpPr/>
          <p:nvPr/>
        </p:nvSpPr>
        <p:spPr>
          <a:xfrm>
            <a:off x="2487168" y="4096512"/>
            <a:ext cx="2084832" cy="329184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1"/>
          <p:cNvSpPr/>
          <p:nvPr/>
        </p:nvSpPr>
        <p:spPr>
          <a:xfrm>
            <a:off x="2578608" y="40965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PaymentGatewayPort stub → Stripe SDK in Phase 2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4718304" y="4096512"/>
            <a:ext cx="2084832" cy="329184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3"/>
          <p:cNvSpPr/>
          <p:nvPr/>
        </p:nvSpPr>
        <p:spPr>
          <a:xfrm>
            <a:off x="4809744" y="40965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NotificationPort stub → SendGrid in Phase 2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6949440" y="4096512"/>
            <a:ext cx="2084832" cy="329184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0" name="Text 45"/>
          <p:cNvSpPr/>
          <p:nvPr/>
        </p:nvSpPr>
        <p:spPr>
          <a:xfrm>
            <a:off x="7040880" y="40965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 on every push</a:t>
            </a:r>
            <a:endParaRPr lang="en-US" sz="1050" dirty="0"/>
          </a:p>
        </p:txBody>
      </p:sp>
      <p:pic>
        <p:nvPicPr>
          <p:cNvPr id="51" name="arch_diagram" descr="System Architecture Diagra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9875" y="4430000"/>
            <a:ext cx="3924250" cy="713500"/>
          </a:xfrm>
          <a:prstGeom prst="rect">
            <a:avLst/>
          </a:prstGeom>
        </p:spPr>
      </p:pic>
      <p:sp>
        <p:nvSpPr>
          <p:cNvPr id="52" name="Takeaway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Status: All 3 tiers implemented and functional in local dev environment. AWS EC2 deployment is Phase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Features Delivered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user journeys completed within MVP scope (payment &amp; email use stubs)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269748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16736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23544" y="12618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1700784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Shape 6"/>
          <p:cNvSpPr/>
          <p:nvPr/>
        </p:nvSpPr>
        <p:spPr>
          <a:xfrm>
            <a:off x="502920" y="180136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502920" y="1801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95528" y="170078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&amp; login (JWT)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11480" y="2176272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Shape 10"/>
          <p:cNvSpPr/>
          <p:nvPr/>
        </p:nvSpPr>
        <p:spPr>
          <a:xfrm>
            <a:off x="502920" y="227685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502920" y="2276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95528" y="217627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city / category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11480" y="265176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Shape 14"/>
          <p:cNvSpPr/>
          <p:nvPr/>
        </p:nvSpPr>
        <p:spPr>
          <a:xfrm>
            <a:off x="502920" y="2752344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5"/>
          <p:cNvSpPr/>
          <p:nvPr/>
        </p:nvSpPr>
        <p:spPr>
          <a:xfrm>
            <a:off x="502920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95528" y="26517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profiles &amp; reviews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11480" y="312724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Shape 18"/>
          <p:cNvSpPr/>
          <p:nvPr/>
        </p:nvSpPr>
        <p:spPr>
          <a:xfrm>
            <a:off x="502920" y="3227832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502920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95528" y="3127248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booking request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11480" y="360273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Shape 22"/>
          <p:cNvSpPr/>
          <p:nvPr/>
        </p:nvSpPr>
        <p:spPr>
          <a:xfrm>
            <a:off x="502920" y="3703320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3"/>
          <p:cNvSpPr/>
          <p:nvPr/>
        </p:nvSpPr>
        <p:spPr>
          <a:xfrm>
            <a:off x="502920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95528" y="36027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simulation (stub)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11480" y="407822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9" name="Shape 26"/>
          <p:cNvSpPr/>
          <p:nvPr/>
        </p:nvSpPr>
        <p:spPr>
          <a:xfrm>
            <a:off x="502920" y="417880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7"/>
          <p:cNvSpPr/>
          <p:nvPr/>
        </p:nvSpPr>
        <p:spPr>
          <a:xfrm>
            <a:off x="502920" y="4178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95528" y="407822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history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11480" y="4553712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3" name="Shape 30"/>
          <p:cNvSpPr/>
          <p:nvPr/>
        </p:nvSpPr>
        <p:spPr>
          <a:xfrm>
            <a:off x="502920" y="465429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1"/>
          <p:cNvSpPr/>
          <p:nvPr/>
        </p:nvSpPr>
        <p:spPr>
          <a:xfrm>
            <a:off x="502920" y="46542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95528" y="45171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5-star post-tour review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264408" y="1261872"/>
            <a:ext cx="269748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316736"/>
            <a:ext cx="329184" cy="329184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3776472" y="12618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500" dirty="0"/>
          </a:p>
        </p:txBody>
      </p:sp>
      <p:sp>
        <p:nvSpPr>
          <p:cNvPr id="39" name="Shape 35"/>
          <p:cNvSpPr/>
          <p:nvPr/>
        </p:nvSpPr>
        <p:spPr>
          <a:xfrm>
            <a:off x="3264408" y="1700784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Shape 36"/>
          <p:cNvSpPr/>
          <p:nvPr/>
        </p:nvSpPr>
        <p:spPr>
          <a:xfrm>
            <a:off x="3355848" y="180136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Text 37"/>
          <p:cNvSpPr/>
          <p:nvPr/>
        </p:nvSpPr>
        <p:spPr>
          <a:xfrm>
            <a:off x="3355848" y="1801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3648456" y="170078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+ submit docs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3264408" y="2176272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Shape 40"/>
          <p:cNvSpPr/>
          <p:nvPr/>
        </p:nvSpPr>
        <p:spPr>
          <a:xfrm>
            <a:off x="3355848" y="227685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5" name="Text 41"/>
          <p:cNvSpPr/>
          <p:nvPr/>
        </p:nvSpPr>
        <p:spPr>
          <a:xfrm>
            <a:off x="3355848" y="2276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3648456" y="217627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tour listings &amp; pricing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3264408" y="265176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Shape 44"/>
          <p:cNvSpPr/>
          <p:nvPr/>
        </p:nvSpPr>
        <p:spPr>
          <a:xfrm>
            <a:off x="3355848" y="2752344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9" name="Text 45"/>
          <p:cNvSpPr/>
          <p:nvPr/>
        </p:nvSpPr>
        <p:spPr>
          <a:xfrm>
            <a:off x="3355848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3648456" y="26517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availability calendar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3264408" y="312724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2" name="Shape 48"/>
          <p:cNvSpPr/>
          <p:nvPr/>
        </p:nvSpPr>
        <p:spPr>
          <a:xfrm>
            <a:off x="3355848" y="3227832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3" name="Text 49"/>
          <p:cNvSpPr/>
          <p:nvPr/>
        </p:nvSpPr>
        <p:spPr>
          <a:xfrm>
            <a:off x="3355848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4" name="Text 50"/>
          <p:cNvSpPr/>
          <p:nvPr/>
        </p:nvSpPr>
        <p:spPr>
          <a:xfrm>
            <a:off x="3648456" y="3127248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or decline bookings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3264408" y="360273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6" name="Shape 52"/>
          <p:cNvSpPr/>
          <p:nvPr/>
        </p:nvSpPr>
        <p:spPr>
          <a:xfrm>
            <a:off x="3355848" y="3703320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7" name="Text 53"/>
          <p:cNvSpPr/>
          <p:nvPr/>
        </p:nvSpPr>
        <p:spPr>
          <a:xfrm>
            <a:off x="3355848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8" name="Text 54"/>
          <p:cNvSpPr/>
          <p:nvPr/>
        </p:nvSpPr>
        <p:spPr>
          <a:xfrm>
            <a:off x="3648456" y="36027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dashboard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3264408" y="407822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0" name="Shape 56"/>
          <p:cNvSpPr/>
          <p:nvPr/>
        </p:nvSpPr>
        <p:spPr>
          <a:xfrm>
            <a:off x="3355848" y="417880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1" name="Text 57"/>
          <p:cNvSpPr/>
          <p:nvPr/>
        </p:nvSpPr>
        <p:spPr>
          <a:xfrm>
            <a:off x="3355848" y="4178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2" name="Text 58"/>
          <p:cNvSpPr/>
          <p:nvPr/>
        </p:nvSpPr>
        <p:spPr>
          <a:xfrm>
            <a:off x="3648456" y="407822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upcoming bookings</a:t>
            </a:r>
            <a:endParaRPr lang="en-US" sz="1150" dirty="0"/>
          </a:p>
        </p:txBody>
      </p:sp>
      <p:sp>
        <p:nvSpPr>
          <p:cNvPr id="63" name="Shape 59"/>
          <p:cNvSpPr/>
          <p:nvPr/>
        </p:nvSpPr>
        <p:spPr>
          <a:xfrm>
            <a:off x="3264408" y="4553712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4" name="Shape 60"/>
          <p:cNvSpPr/>
          <p:nvPr/>
        </p:nvSpPr>
        <p:spPr>
          <a:xfrm>
            <a:off x="3355848" y="465429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5" name="Text 61"/>
          <p:cNvSpPr/>
          <p:nvPr/>
        </p:nvSpPr>
        <p:spPr>
          <a:xfrm>
            <a:off x="3355848" y="46542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6" name="Text 62"/>
          <p:cNvSpPr/>
          <p:nvPr/>
        </p:nvSpPr>
        <p:spPr>
          <a:xfrm>
            <a:off x="3648456" y="451844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to tourist reviews</a:t>
            </a:r>
            <a:endParaRPr lang="en-US" sz="1150" dirty="0"/>
          </a:p>
        </p:txBody>
      </p:sp>
      <p:sp>
        <p:nvSpPr>
          <p:cNvPr id="67" name="Shape 63"/>
          <p:cNvSpPr/>
          <p:nvPr/>
        </p:nvSpPr>
        <p:spPr>
          <a:xfrm>
            <a:off x="6117336" y="1261872"/>
            <a:ext cx="269748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6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8776" y="1316736"/>
            <a:ext cx="329184" cy="329184"/>
          </a:xfrm>
          <a:prstGeom prst="rect">
            <a:avLst/>
          </a:prstGeom>
        </p:spPr>
      </p:pic>
      <p:sp>
        <p:nvSpPr>
          <p:cNvPr id="69" name="Text 64"/>
          <p:cNvSpPr/>
          <p:nvPr/>
        </p:nvSpPr>
        <p:spPr>
          <a:xfrm>
            <a:off x="6629400" y="12618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  <p:sp>
        <p:nvSpPr>
          <p:cNvPr id="70" name="Shape 65"/>
          <p:cNvSpPr/>
          <p:nvPr/>
        </p:nvSpPr>
        <p:spPr>
          <a:xfrm>
            <a:off x="6117336" y="1700784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1" name="Shape 66"/>
          <p:cNvSpPr/>
          <p:nvPr/>
        </p:nvSpPr>
        <p:spPr>
          <a:xfrm>
            <a:off x="6208776" y="180136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2" name="Text 67"/>
          <p:cNvSpPr/>
          <p:nvPr/>
        </p:nvSpPr>
        <p:spPr>
          <a:xfrm>
            <a:off x="6208776" y="1801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73" name="Text 68"/>
          <p:cNvSpPr/>
          <p:nvPr/>
        </p:nvSpPr>
        <p:spPr>
          <a:xfrm>
            <a:off x="6501384" y="170078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guide verifications</a:t>
            </a:r>
            <a:endParaRPr lang="en-US" sz="1150" dirty="0"/>
          </a:p>
        </p:txBody>
      </p:sp>
      <p:sp>
        <p:nvSpPr>
          <p:cNvPr id="74" name="Shape 69"/>
          <p:cNvSpPr/>
          <p:nvPr/>
        </p:nvSpPr>
        <p:spPr>
          <a:xfrm>
            <a:off x="6117336" y="2176272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5" name="Shape 70"/>
          <p:cNvSpPr/>
          <p:nvPr/>
        </p:nvSpPr>
        <p:spPr>
          <a:xfrm>
            <a:off x="6208776" y="227685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6" name="Text 71"/>
          <p:cNvSpPr/>
          <p:nvPr/>
        </p:nvSpPr>
        <p:spPr>
          <a:xfrm>
            <a:off x="6208776" y="2276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77" name="Text 72"/>
          <p:cNvSpPr/>
          <p:nvPr/>
        </p:nvSpPr>
        <p:spPr>
          <a:xfrm>
            <a:off x="6501384" y="217627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account management</a:t>
            </a:r>
            <a:endParaRPr lang="en-US" sz="1150" dirty="0"/>
          </a:p>
        </p:txBody>
      </p:sp>
      <p:sp>
        <p:nvSpPr>
          <p:cNvPr id="78" name="Shape 73"/>
          <p:cNvSpPr/>
          <p:nvPr/>
        </p:nvSpPr>
        <p:spPr>
          <a:xfrm>
            <a:off x="6117336" y="265176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9" name="Shape 74"/>
          <p:cNvSpPr/>
          <p:nvPr/>
        </p:nvSpPr>
        <p:spPr>
          <a:xfrm>
            <a:off x="6208776" y="2752344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0" name="Text 75"/>
          <p:cNvSpPr/>
          <p:nvPr/>
        </p:nvSpPr>
        <p:spPr>
          <a:xfrm>
            <a:off x="6208776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1" name="Text 76"/>
          <p:cNvSpPr/>
          <p:nvPr/>
        </p:nvSpPr>
        <p:spPr>
          <a:xfrm>
            <a:off x="6501384" y="26517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150" dirty="0"/>
          </a:p>
        </p:txBody>
      </p:sp>
      <p:sp>
        <p:nvSpPr>
          <p:cNvPr id="82" name="Shape 77"/>
          <p:cNvSpPr/>
          <p:nvPr/>
        </p:nvSpPr>
        <p:spPr>
          <a:xfrm>
            <a:off x="6117336" y="312724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3" name="Shape 78"/>
          <p:cNvSpPr/>
          <p:nvPr/>
        </p:nvSpPr>
        <p:spPr>
          <a:xfrm>
            <a:off x="6208776" y="3227832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4" name="Text 79"/>
          <p:cNvSpPr/>
          <p:nvPr/>
        </p:nvSpPr>
        <p:spPr>
          <a:xfrm>
            <a:off x="6208776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5" name="Text 80"/>
          <p:cNvSpPr/>
          <p:nvPr/>
        </p:nvSpPr>
        <p:spPr>
          <a:xfrm>
            <a:off x="6501384" y="3127248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/ reactivate accounts</a:t>
            </a:r>
            <a:endParaRPr lang="en-US" sz="1150" dirty="0"/>
          </a:p>
        </p:txBody>
      </p:sp>
      <p:sp>
        <p:nvSpPr>
          <p:cNvPr id="86" name="Shape 81"/>
          <p:cNvSpPr/>
          <p:nvPr/>
        </p:nvSpPr>
        <p:spPr>
          <a:xfrm>
            <a:off x="6117336" y="360273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7" name="Shape 82"/>
          <p:cNvSpPr/>
          <p:nvPr/>
        </p:nvSpPr>
        <p:spPr>
          <a:xfrm>
            <a:off x="6208776" y="3703320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8" name="Text 83"/>
          <p:cNvSpPr/>
          <p:nvPr/>
        </p:nvSpPr>
        <p:spPr>
          <a:xfrm>
            <a:off x="6208776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9" name="Text 84"/>
          <p:cNvSpPr/>
          <p:nvPr/>
        </p:nvSpPr>
        <p:spPr>
          <a:xfrm>
            <a:off x="6501384" y="36027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listing moderation</a:t>
            </a:r>
            <a:endParaRPr lang="en-US" sz="1150" dirty="0"/>
          </a:p>
        </p:txBody>
      </p:sp>
      <p:sp>
        <p:nvSpPr>
          <p:cNvPr id="90" name="Shape 85"/>
          <p:cNvSpPr/>
          <p:nvPr/>
        </p:nvSpPr>
        <p:spPr>
          <a:xfrm>
            <a:off x="6117336" y="407822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1" name="Shape 86"/>
          <p:cNvSpPr/>
          <p:nvPr/>
        </p:nvSpPr>
        <p:spPr>
          <a:xfrm>
            <a:off x="6208776" y="417880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2" name="Text 87"/>
          <p:cNvSpPr/>
          <p:nvPr/>
        </p:nvSpPr>
        <p:spPr>
          <a:xfrm>
            <a:off x="6208776" y="4178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93" name="Text 88"/>
          <p:cNvSpPr/>
          <p:nvPr/>
        </p:nvSpPr>
        <p:spPr>
          <a:xfrm>
            <a:off x="6501384" y="407822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oversight</a:t>
            </a:r>
            <a:endParaRPr lang="en-US" sz="1150" dirty="0"/>
          </a:p>
        </p:txBody>
      </p:sp>
      <p:sp>
        <p:nvSpPr>
          <p:cNvPr id="94" name="Takeaway"/>
          <p:cNvSpPr/>
          <p:nvPr/>
        </p:nvSpPr>
        <p:spPr>
          <a:xfrm>
            <a:off x="411480" y="4823500"/>
            <a:ext cx="8321040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15 features across 3 roles delivered in 12 weeks — core user journeys complete within MVP scope.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UI Showcase</a:t>
            </a:r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All screens built and running — no mocks, no placeholders</a:t>
            </a:r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home"/>
          <p:cNvSpPr/>
          <p:nvPr/>
        </p:nvSpPr>
        <p:spPr>
          <a:xfrm>
            <a:off x="411480" y="1220000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Homepage</a:t>
            </a:r>
          </a:p>
        </p:txBody>
      </p:sp>
      <p:pic>
        <p:nvPicPr>
          <p:cNvPr id="6" name="img_homepage" descr="Homepag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4000000" cy="1050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guide"/>
          <p:cNvSpPr/>
          <p:nvPr/>
        </p:nvSpPr>
        <p:spPr>
          <a:xfrm>
            <a:off x="4732520" y="1220000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Guide Profile</a:t>
            </a:r>
          </a:p>
        </p:txBody>
      </p:sp>
      <p:pic>
        <p:nvPicPr>
          <p:cNvPr id="8" name="img_guide" descr="Guide Profile screensh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20" y="1400000"/>
            <a:ext cx="4000000" cy="170909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search"/>
          <p:cNvSpPr/>
          <p:nvPr/>
        </p:nvSpPr>
        <p:spPr>
          <a:xfrm>
            <a:off x="411480" y="2683447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Search Results</a:t>
            </a:r>
          </a:p>
        </p:txBody>
      </p:sp>
      <p:sp>
        <p:nvSpPr>
          <p:cNvPr id="11" name="Label_admin"/>
          <p:cNvSpPr/>
          <p:nvPr/>
        </p:nvSpPr>
        <p:spPr>
          <a:xfrm>
            <a:off x="4732520" y="3200000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Admin Analytics Dashboard</a:t>
            </a:r>
          </a:p>
        </p:txBody>
      </p:sp>
      <p:sp>
        <p:nvSpPr>
          <p:cNvPr id="13" name="Takeaway"/>
          <p:cNvSpPr/>
          <p:nvPr/>
        </p:nvSpPr>
        <p:spPr>
          <a:xfrm>
            <a:off x="411480" y="4823500"/>
            <a:ext cx="8321040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Every screen shown here is live — fully functional in the browser, not a wireframe.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1C9DA09-4952-D048-FB0D-0B330E440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915730"/>
            <a:ext cx="3944982" cy="1725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99559D-1D66-761E-43B2-36C6D2F603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520" y="3452700"/>
            <a:ext cx="4258492" cy="1144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Demo Flow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Scenario: A tourist discovers, books, and pays a verified local guide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H5"/>
          <p:cNvSpPr/>
          <p:nvPr/>
        </p:nvSpPr>
        <p:spPr>
          <a:xfrm>
            <a:off x="411480" y="1270000"/>
            <a:ext cx="3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Step</a:t>
            </a:r>
          </a:p>
        </p:txBody>
      </p:sp>
      <p:sp>
        <p:nvSpPr>
          <p:cNvPr id="6" name="H6"/>
          <p:cNvSpPr/>
          <p:nvPr/>
        </p:nvSpPr>
        <p:spPr>
          <a:xfrm>
            <a:off x="2431480" y="1270000"/>
            <a:ext cx="4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Action</a:t>
            </a:r>
          </a:p>
        </p:txBody>
      </p:sp>
      <p:sp>
        <p:nvSpPr>
          <p:cNvPr id="7" name="H7"/>
          <p:cNvSpPr/>
          <p:nvPr/>
        </p:nvSpPr>
        <p:spPr>
          <a:xfrm>
            <a:off x="6051479" y="1270000"/>
            <a:ext cx="995932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What to show</a:t>
            </a:r>
          </a:p>
        </p:txBody>
      </p:sp>
      <p:sp>
        <p:nvSpPr>
          <p:cNvPr id="8" name="H8"/>
          <p:cNvSpPr/>
          <p:nvPr/>
        </p:nvSpPr>
        <p:spPr>
          <a:xfrm>
            <a:off x="8171480" y="1270000"/>
            <a:ext cx="4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Time</a:t>
            </a:r>
          </a:p>
        </p:txBody>
      </p:sp>
      <p:sp>
        <p:nvSpPr>
          <p:cNvPr id="9" name="RowBg9"/>
          <p:cNvSpPr/>
          <p:nvPr/>
        </p:nvSpPr>
        <p:spPr>
          <a:xfrm>
            <a:off x="411480" y="1490000"/>
            <a:ext cx="8321040" cy="600000"/>
          </a:xfrm>
          <a:prstGeom prst="rect">
            <a:avLst/>
          </a:prstGeom>
          <a:solidFill>
            <a:srgbClr val="F0F9FA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0" name="C10"/>
          <p:cNvSpPr/>
          <p:nvPr/>
        </p:nvSpPr>
        <p:spPr>
          <a:xfrm>
            <a:off x="441480" y="152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1</a:t>
            </a:r>
          </a:p>
        </p:txBody>
      </p:sp>
      <p:sp>
        <p:nvSpPr>
          <p:cNvPr id="11" name="C11"/>
          <p:cNvSpPr/>
          <p:nvPr/>
        </p:nvSpPr>
        <p:spPr>
          <a:xfrm>
            <a:off x="2461480" y="152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Tourist searches for a guide</a:t>
            </a:r>
          </a:p>
        </p:txBody>
      </p:sp>
      <p:sp>
        <p:nvSpPr>
          <p:cNvPr id="12" name="C12"/>
          <p:cNvSpPr/>
          <p:nvPr/>
        </p:nvSpPr>
        <p:spPr>
          <a:xfrm>
            <a:off x="6081480" y="152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Open homepage → select Province/City/Category → click Search</a:t>
            </a:r>
          </a:p>
        </p:txBody>
      </p:sp>
      <p:sp>
        <p:nvSpPr>
          <p:cNvPr id="13" name="C13"/>
          <p:cNvSpPr/>
          <p:nvPr/>
        </p:nvSpPr>
        <p:spPr>
          <a:xfrm>
            <a:off x="8201480" y="152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~30s</a:t>
            </a:r>
          </a:p>
        </p:txBody>
      </p:sp>
      <p:sp>
        <p:nvSpPr>
          <p:cNvPr id="14" name="RowBg14"/>
          <p:cNvSpPr/>
          <p:nvPr/>
        </p:nvSpPr>
        <p:spPr>
          <a:xfrm>
            <a:off x="411480" y="2110000"/>
            <a:ext cx="832104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5" name="C15"/>
          <p:cNvSpPr/>
          <p:nvPr/>
        </p:nvSpPr>
        <p:spPr>
          <a:xfrm>
            <a:off x="441480" y="214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2</a:t>
            </a:r>
          </a:p>
        </p:txBody>
      </p:sp>
      <p:sp>
        <p:nvSpPr>
          <p:cNvPr id="16" name="C16"/>
          <p:cNvSpPr/>
          <p:nvPr/>
        </p:nvSpPr>
        <p:spPr>
          <a:xfrm>
            <a:off x="2461480" y="214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Tourist views guide profile &amp; selects tour</a:t>
            </a:r>
          </a:p>
        </p:txBody>
      </p:sp>
      <p:sp>
        <p:nvSpPr>
          <p:cNvPr id="17" name="C17"/>
          <p:cNvSpPr/>
          <p:nvPr/>
        </p:nvSpPr>
        <p:spPr>
          <a:xfrm>
            <a:off x="6081480" y="214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Click guide card → view tours, price, availability → click Book</a:t>
            </a:r>
          </a:p>
        </p:txBody>
      </p:sp>
      <p:sp>
        <p:nvSpPr>
          <p:cNvPr id="18" name="C18"/>
          <p:cNvSpPr/>
          <p:nvPr/>
        </p:nvSpPr>
        <p:spPr>
          <a:xfrm>
            <a:off x="8201480" y="214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~30s</a:t>
            </a:r>
          </a:p>
        </p:txBody>
      </p:sp>
      <p:sp>
        <p:nvSpPr>
          <p:cNvPr id="19" name="RowBg19"/>
          <p:cNvSpPr/>
          <p:nvPr/>
        </p:nvSpPr>
        <p:spPr>
          <a:xfrm>
            <a:off x="411480" y="2730000"/>
            <a:ext cx="8321040" cy="600000"/>
          </a:xfrm>
          <a:prstGeom prst="rect">
            <a:avLst/>
          </a:prstGeom>
          <a:solidFill>
            <a:srgbClr val="F0F9FA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0" name="C20"/>
          <p:cNvSpPr/>
          <p:nvPr/>
        </p:nvSpPr>
        <p:spPr>
          <a:xfrm>
            <a:off x="441480" y="276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3</a:t>
            </a:r>
          </a:p>
        </p:txBody>
      </p:sp>
      <p:sp>
        <p:nvSpPr>
          <p:cNvPr id="21" name="C21"/>
          <p:cNvSpPr/>
          <p:nvPr/>
        </p:nvSpPr>
        <p:spPr>
          <a:xfrm>
            <a:off x="2461480" y="276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Tourist submits booking request</a:t>
            </a:r>
          </a:p>
        </p:txBody>
      </p:sp>
      <p:sp>
        <p:nvSpPr>
          <p:cNvPr id="22" name="C22"/>
          <p:cNvSpPr/>
          <p:nvPr/>
        </p:nvSpPr>
        <p:spPr>
          <a:xfrm>
            <a:off x="6081480" y="276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Select date/time/people → confirm → "Booking request submitted" toast</a:t>
            </a:r>
          </a:p>
        </p:txBody>
      </p:sp>
      <p:sp>
        <p:nvSpPr>
          <p:cNvPr id="23" name="C23"/>
          <p:cNvSpPr/>
          <p:nvPr/>
        </p:nvSpPr>
        <p:spPr>
          <a:xfrm>
            <a:off x="8201480" y="276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~20s</a:t>
            </a:r>
          </a:p>
        </p:txBody>
      </p:sp>
      <p:sp>
        <p:nvSpPr>
          <p:cNvPr id="24" name="RowBg24"/>
          <p:cNvSpPr/>
          <p:nvPr/>
        </p:nvSpPr>
        <p:spPr>
          <a:xfrm>
            <a:off x="411480" y="3350000"/>
            <a:ext cx="832104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5" name="C25"/>
          <p:cNvSpPr/>
          <p:nvPr/>
        </p:nvSpPr>
        <p:spPr>
          <a:xfrm>
            <a:off x="441480" y="338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4</a:t>
            </a:r>
          </a:p>
        </p:txBody>
      </p:sp>
      <p:sp>
        <p:nvSpPr>
          <p:cNvPr id="26" name="C26"/>
          <p:cNvSpPr/>
          <p:nvPr/>
        </p:nvSpPr>
        <p:spPr>
          <a:xfrm>
            <a:off x="2461480" y="338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Guide accepts booking &amp; tourist pays</a:t>
            </a:r>
          </a:p>
        </p:txBody>
      </p:sp>
      <p:sp>
        <p:nvSpPr>
          <p:cNvPr id="27" name="C27"/>
          <p:cNvSpPr/>
          <p:nvPr/>
        </p:nvSpPr>
        <p:spPr>
          <a:xfrm>
            <a:off x="6081480" y="338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Guide dashboard → Accept → Tourist My Bookings → Pay → payment confirmed</a:t>
            </a:r>
          </a:p>
        </p:txBody>
      </p:sp>
      <p:sp>
        <p:nvSpPr>
          <p:cNvPr id="28" name="C28"/>
          <p:cNvSpPr/>
          <p:nvPr/>
        </p:nvSpPr>
        <p:spPr>
          <a:xfrm>
            <a:off x="8201480" y="338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~40s</a:t>
            </a:r>
          </a:p>
        </p:txBody>
      </p:sp>
      <p:sp>
        <p:nvSpPr>
          <p:cNvPr id="29" name="RowBg29"/>
          <p:cNvSpPr/>
          <p:nvPr/>
        </p:nvSpPr>
        <p:spPr>
          <a:xfrm>
            <a:off x="411480" y="3970000"/>
            <a:ext cx="8321040" cy="600000"/>
          </a:xfrm>
          <a:prstGeom prst="rect">
            <a:avLst/>
          </a:prstGeom>
          <a:solidFill>
            <a:srgbClr val="F0F9FA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30" name="C30"/>
          <p:cNvSpPr/>
          <p:nvPr/>
        </p:nvSpPr>
        <p:spPr>
          <a:xfrm>
            <a:off x="441480" y="400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5</a:t>
            </a:r>
          </a:p>
        </p:txBody>
      </p:sp>
      <p:sp>
        <p:nvSpPr>
          <p:cNvPr id="31" name="C31"/>
          <p:cNvSpPr/>
          <p:nvPr/>
        </p:nvSpPr>
        <p:spPr>
          <a:xfrm>
            <a:off x="2461480" y="400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Booking confirmed — status machine fires</a:t>
            </a:r>
          </a:p>
        </p:txBody>
      </p:sp>
      <p:sp>
        <p:nvSpPr>
          <p:cNvPr id="32" name="C32"/>
          <p:cNvSpPr/>
          <p:nvPr/>
        </p:nvSpPr>
        <p:spPr>
          <a:xfrm>
            <a:off x="6081480" y="400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Status: PENDING → CONFIRMED → Payment Intent ID visible on booking detail</a:t>
            </a:r>
          </a:p>
        </p:txBody>
      </p:sp>
      <p:sp>
        <p:nvSpPr>
          <p:cNvPr id="33" name="C33"/>
          <p:cNvSpPr/>
          <p:nvPr/>
        </p:nvSpPr>
        <p:spPr>
          <a:xfrm>
            <a:off x="8201480" y="400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~15s</a:t>
            </a:r>
          </a:p>
        </p:txBody>
      </p:sp>
      <p:sp>
        <p:nvSpPr>
          <p:cNvPr id="34" name="TK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Total demo time ~2.5 minutes. All 5 steps run on localhost — no external dependencies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Booking 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CA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→ Booking Request → Guide Accepts → Payment Simulation → Confirmed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561701" y="1261872"/>
            <a:ext cx="1103809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930073" y="1353312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918317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0117" y="1838843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2752" y="2314331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· category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filter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71388" y="19261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82684" y="1261872"/>
            <a:ext cx="11052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2254648" y="1353312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2280776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02082" y="18532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Guide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47810" y="2314787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from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calendar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36207" y="192024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38286" y="1272421"/>
            <a:ext cx="1105200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Shape 16"/>
          <p:cNvSpPr/>
          <p:nvPr/>
        </p:nvSpPr>
        <p:spPr>
          <a:xfrm>
            <a:off x="3624862" y="1348839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3606653" y="134547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036207" y="1857637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12877" y="230695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CREATED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83009" y="19261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630210" y="1268403"/>
            <a:ext cx="11052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Shape 22"/>
          <p:cNvSpPr/>
          <p:nvPr/>
        </p:nvSpPr>
        <p:spPr>
          <a:xfrm>
            <a:off x="4974353" y="1347395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4974353" y="134739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398272" y="184117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479035" y="2304952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→ 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PENDING_PAYMENT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86690" y="192024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29173" y="1275715"/>
            <a:ext cx="1105200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Shape 28"/>
          <p:cNvSpPr/>
          <p:nvPr/>
        </p:nvSpPr>
        <p:spPr>
          <a:xfrm>
            <a:off x="6310520" y="1340814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1" name="Text 29"/>
          <p:cNvSpPr/>
          <p:nvPr/>
        </p:nvSpPr>
        <p:spPr>
          <a:xfrm>
            <a:off x="6310520" y="13487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810357" y="1835557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842045" y="2337356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11480" y="3017520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Status Machine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11480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411480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965960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112264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9" name="Text 37"/>
          <p:cNvSpPr/>
          <p:nvPr/>
        </p:nvSpPr>
        <p:spPr>
          <a:xfrm>
            <a:off x="2112264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66744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813048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3813048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IN_PROGRESS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67528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513832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76749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5" name="Text 43"/>
          <p:cNvSpPr/>
          <p:nvPr/>
        </p:nvSpPr>
        <p:spPr>
          <a:xfrm>
            <a:off x="5513832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068312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214616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9B233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7214616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B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1480" y="389534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Choices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1480" y="4195333"/>
            <a:ext cx="201168" cy="201168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1" name="Text 49"/>
          <p:cNvSpPr/>
          <p:nvPr/>
        </p:nvSpPr>
        <p:spPr>
          <a:xfrm>
            <a:off x="694944" y="4177045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+ JWT auth · role-based guards on all endpoints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11480" y="4433077"/>
            <a:ext cx="201168" cy="201168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3" name="Text 51"/>
          <p:cNvSpPr/>
          <p:nvPr/>
        </p:nvSpPr>
        <p:spPr>
          <a:xfrm>
            <a:off x="694944" y="4414789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layered separation: Controller → Service → Repository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11480" y="4670821"/>
            <a:ext cx="201168" cy="201168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5" name="Text 53"/>
          <p:cNvSpPr/>
          <p:nvPr/>
        </p:nvSpPr>
        <p:spPr>
          <a:xfrm>
            <a:off x="694944" y="4652533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PaymentGatewayPort: stub now, Stripe SDK in Phase 2</a:t>
            </a:r>
            <a:endParaRPr lang="en-US" sz="1200" dirty="0"/>
          </a:p>
        </p:txBody>
      </p:sp>
      <p:pic>
        <p:nvPicPr>
          <p:cNvPr id="56" name="payment_page" descr="Payment Pag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000" y="4047229"/>
            <a:ext cx="2400000" cy="89904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57" name="booking_confirmed" descr="Booking Confirmed Screensh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0000" y="3957589"/>
            <a:ext cx="1800000" cy="107832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58" name="Takeaway"/>
          <p:cNvSpPr/>
          <p:nvPr/>
        </p:nvSpPr>
        <p:spPr>
          <a:xfrm>
            <a:off x="304364" y="4845814"/>
            <a:ext cx="8787384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A tourist can go from search to confirmed booking in under 3 steps</a:t>
            </a:r>
            <a:r>
              <a:rPr lang="zh-CN" altLang="en-US" sz="1300" b="1" dirty="0">
                <a:solidFill>
                  <a:srgbClr val="2A7F85"/>
                </a:solidFill>
                <a:latin typeface="Calibri" pitchFamily="34" charset="0"/>
              </a:rPr>
              <a:t>，</a:t>
            </a: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payment layer is already Stripe-ready.</a:t>
            </a:r>
          </a:p>
        </p:txBody>
      </p:sp>
      <p:sp>
        <p:nvSpPr>
          <p:cNvPr id="59" name="Text 26">
            <a:extLst>
              <a:ext uri="{FF2B5EF4-FFF2-40B4-BE49-F238E27FC236}">
                <a16:creationId xmlns:a16="http://schemas.microsoft.com/office/drawing/2014/main" id="{AC96BBE7-AF2D-8153-7EAC-F87E392B03BB}"/>
              </a:ext>
            </a:extLst>
          </p:cNvPr>
          <p:cNvSpPr/>
          <p:nvPr/>
        </p:nvSpPr>
        <p:spPr>
          <a:xfrm>
            <a:off x="7209506" y="1905179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0" name="Shape 27">
            <a:extLst>
              <a:ext uri="{FF2B5EF4-FFF2-40B4-BE49-F238E27FC236}">
                <a16:creationId xmlns:a16="http://schemas.microsoft.com/office/drawing/2014/main" id="{B1ECC2E3-E6B1-A076-CA46-3E4C004AA52D}"/>
              </a:ext>
            </a:extLst>
          </p:cNvPr>
          <p:cNvSpPr/>
          <p:nvPr/>
        </p:nvSpPr>
        <p:spPr>
          <a:xfrm>
            <a:off x="7469037" y="1264077"/>
            <a:ext cx="1105200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1" name="Shape 28">
            <a:extLst>
              <a:ext uri="{FF2B5EF4-FFF2-40B4-BE49-F238E27FC236}">
                <a16:creationId xmlns:a16="http://schemas.microsoft.com/office/drawing/2014/main" id="{E9E903D1-E067-2CEB-FFDB-7745AA28860A}"/>
              </a:ext>
            </a:extLst>
          </p:cNvPr>
          <p:cNvSpPr/>
          <p:nvPr/>
        </p:nvSpPr>
        <p:spPr>
          <a:xfrm>
            <a:off x="7827607" y="1342763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08BF44CD-6C3E-D5E3-C0C9-81D4FD6752B8}"/>
              </a:ext>
            </a:extLst>
          </p:cNvPr>
          <p:cNvSpPr/>
          <p:nvPr/>
        </p:nvSpPr>
        <p:spPr>
          <a:xfrm>
            <a:off x="7827607" y="13506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0121306D-AB12-F305-3357-12734D0EDE78}"/>
              </a:ext>
            </a:extLst>
          </p:cNvPr>
          <p:cNvSpPr/>
          <p:nvPr/>
        </p:nvSpPr>
        <p:spPr>
          <a:xfrm>
            <a:off x="7250221" y="1830409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300" dirty="0"/>
          </a:p>
        </p:txBody>
      </p:sp>
      <p:sp>
        <p:nvSpPr>
          <p:cNvPr id="64" name="Text 31">
            <a:extLst>
              <a:ext uri="{FF2B5EF4-FFF2-40B4-BE49-F238E27FC236}">
                <a16:creationId xmlns:a16="http://schemas.microsoft.com/office/drawing/2014/main" id="{38499EA6-98C8-6B73-03B6-C207B6D2609E}"/>
              </a:ext>
            </a:extLst>
          </p:cNvPr>
          <p:cNvSpPr/>
          <p:nvPr/>
        </p:nvSpPr>
        <p:spPr>
          <a:xfrm>
            <a:off x="7333488" y="2312379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tour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Quality Assurance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end-to-end testing in local/dev environment · 29/29 test cases passed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41148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1148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Test Cases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1460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251460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51460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Tests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461772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61772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Tests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2084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672084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72084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 Classes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2359152"/>
            <a:ext cx="3474720" cy="38404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521208" y="2359152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 Scenario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86200" y="2359152"/>
            <a:ext cx="822960" cy="38404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3995928" y="235915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Result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09160" y="2359152"/>
            <a:ext cx="4023360" cy="38404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4818888" y="2359152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Verification Note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2743200"/>
            <a:ext cx="34747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539496" y="274320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Register / Login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886200" y="2743200"/>
            <a:ext cx="8229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014216" y="274320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2743200"/>
            <a:ext cx="40233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4837176" y="274320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issued · TOURIST role assigned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1480" y="3040380"/>
            <a:ext cx="347472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539496" y="304038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Search (city + category)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886200" y="3040380"/>
            <a:ext cx="8229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4014216" y="304038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3040380"/>
            <a:ext cx="40233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4837176" y="304038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filtered, paginated correctly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11480" y="3337560"/>
            <a:ext cx="34747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539496" y="333756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+ Payment Stub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886200" y="3337560"/>
            <a:ext cx="8229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/>
          <p:nvPr/>
        </p:nvSpPr>
        <p:spPr>
          <a:xfrm>
            <a:off x="4014216" y="333756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09160" y="3337560"/>
            <a:ext cx="40233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4837176" y="333756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fires · status → CONFIRMED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11480" y="3634740"/>
            <a:ext cx="347472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539496" y="363474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Accept / Decline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886200" y="3634740"/>
            <a:ext cx="8229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/>
          <p:nvPr/>
        </p:nvSpPr>
        <p:spPr>
          <a:xfrm>
            <a:off x="4014216" y="363474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709160" y="3634740"/>
            <a:ext cx="40233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/>
          <p:nvPr/>
        </p:nvSpPr>
        <p:spPr>
          <a:xfrm>
            <a:off x="4837176" y="363474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status transitions validated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11480" y="3931920"/>
            <a:ext cx="34747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539496" y="393192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Approve / Reject Guide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3886200" y="3931920"/>
            <a:ext cx="8229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0" name="Text 48"/>
          <p:cNvSpPr/>
          <p:nvPr/>
        </p:nvSpPr>
        <p:spPr>
          <a:xfrm>
            <a:off x="4014216" y="393192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709160" y="3931920"/>
            <a:ext cx="40233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2" name="Text 50"/>
          <p:cNvSpPr/>
          <p:nvPr/>
        </p:nvSpPr>
        <p:spPr>
          <a:xfrm>
            <a:off x="4837176" y="393192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verificationStatus field updated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11480" y="4229100"/>
            <a:ext cx="347472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4" name="Text 52"/>
          <p:cNvSpPr/>
          <p:nvPr/>
        </p:nvSpPr>
        <p:spPr>
          <a:xfrm>
            <a:off x="539496" y="422910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Webhook Payload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886200" y="4229100"/>
            <a:ext cx="8229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6" name="Text 54"/>
          <p:cNvSpPr/>
          <p:nvPr/>
        </p:nvSpPr>
        <p:spPr>
          <a:xfrm>
            <a:off x="4014216" y="422910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709160" y="4229100"/>
            <a:ext cx="40233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8" name="Text 56"/>
          <p:cNvSpPr/>
          <p:nvPr/>
        </p:nvSpPr>
        <p:spPr>
          <a:xfrm>
            <a:off x="4837176" y="422910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error · no state mutation</a:t>
            </a:r>
            <a:endParaRPr lang="en-US" sz="1100" dirty="0"/>
          </a:p>
        </p:txBody>
      </p:sp>
      <p:sp>
        <p:nvSpPr>
          <p:cNvPr id="71" name="Takeaway"/>
          <p:cNvSpPr/>
          <p:nvPr/>
        </p:nvSpPr>
        <p:spPr>
          <a:xfrm>
            <a:off x="411480" y="458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29/29 passed in local dev. Scope: full user journey from registration to post-tour review.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Security NFRs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in local dev test environment — production performance may vary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4023360" cy="40233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61872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Performance KPIs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64208"/>
            <a:ext cx="182880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521208" y="166420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Metric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40280" y="1664208"/>
            <a:ext cx="91440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2350008" y="1664208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54680" y="1664208"/>
            <a:ext cx="128016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3264408" y="1664208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Achieved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1993392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539496" y="1993392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Load 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40280" y="1993392"/>
            <a:ext cx="914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2368296" y="1993392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54680" y="1993392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3282696" y="1993392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~1.2s ✓ (local dev)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2468880"/>
            <a:ext cx="18288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39496" y="2468880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Response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240280" y="2468880"/>
            <a:ext cx="9144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2368296" y="2468880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500ms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154680" y="2468880"/>
            <a:ext cx="128016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282696" y="2468880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~300ms ✓ (local dev)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2944368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539496" y="2944368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Flow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240280" y="2944368"/>
            <a:ext cx="914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2368296" y="2944368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154680" y="2944368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3282696" y="2944368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~1.8s ✓ (local dev)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11480" y="3419856"/>
            <a:ext cx="18288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539496" y="3419856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240280" y="3419856"/>
            <a:ext cx="9144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2368296" y="3419856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98%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154680" y="3419856"/>
            <a:ext cx="128016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3282696" y="3419856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✓ (dev stub)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54880" y="1261872"/>
            <a:ext cx="3977640" cy="40233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/>
          <p:nvPr/>
        </p:nvSpPr>
        <p:spPr>
          <a:xfrm>
            <a:off x="4864608" y="1261872"/>
            <a:ext cx="3867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Security &amp; Reliability NFRs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754880" y="1664208"/>
            <a:ext cx="192024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4864608" y="166420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NFR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75120" y="1664208"/>
            <a:ext cx="205740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6784848" y="1664208"/>
            <a:ext cx="1947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Value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754880" y="1993392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/>
          <p:nvPr/>
        </p:nvSpPr>
        <p:spPr>
          <a:xfrm>
            <a:off x="4882896" y="199339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675120" y="1993392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/>
          <p:nvPr/>
        </p:nvSpPr>
        <p:spPr>
          <a:xfrm>
            <a:off x="6803136" y="199339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754880" y="2322576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4882896" y="232257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token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675120" y="2322576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0" name="Text 48"/>
          <p:cNvSpPr/>
          <p:nvPr/>
        </p:nvSpPr>
        <p:spPr>
          <a:xfrm>
            <a:off x="6803136" y="2322576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 expiry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754880" y="2651760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2" name="Text 50"/>
          <p:cNvSpPr/>
          <p:nvPr/>
        </p:nvSpPr>
        <p:spPr>
          <a:xfrm>
            <a:off x="4882896" y="265176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token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675120" y="2651760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4" name="Text 52"/>
          <p:cNvSpPr/>
          <p:nvPr/>
        </p:nvSpPr>
        <p:spPr>
          <a:xfrm>
            <a:off x="6803136" y="265176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4754880" y="2980944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6" name="Text 54"/>
          <p:cNvSpPr/>
          <p:nvPr/>
        </p:nvSpPr>
        <p:spPr>
          <a:xfrm>
            <a:off x="4882896" y="2980944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SLA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675120" y="2980944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8" name="Text 56"/>
          <p:cNvSpPr/>
          <p:nvPr/>
        </p:nvSpPr>
        <p:spPr>
          <a:xfrm>
            <a:off x="6803136" y="2980944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99.5%/month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754880" y="3310128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0" name="Text 58"/>
          <p:cNvSpPr/>
          <p:nvPr/>
        </p:nvSpPr>
        <p:spPr>
          <a:xfrm>
            <a:off x="4882896" y="3310128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675120" y="3310128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2" name="Text 60"/>
          <p:cNvSpPr/>
          <p:nvPr/>
        </p:nvSpPr>
        <p:spPr>
          <a:xfrm>
            <a:off x="6803136" y="3310128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minutes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754880" y="3639312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4" name="Text 62"/>
          <p:cNvSpPr/>
          <p:nvPr/>
        </p:nvSpPr>
        <p:spPr>
          <a:xfrm>
            <a:off x="4882896" y="363931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6675120" y="3639312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6" name="Text 64"/>
          <p:cNvSpPr/>
          <p:nvPr/>
        </p:nvSpPr>
        <p:spPr>
          <a:xfrm>
            <a:off x="6803136" y="363931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target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4754880" y="3968496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8" name="Text 66"/>
          <p:cNvSpPr/>
          <p:nvPr/>
        </p:nvSpPr>
        <p:spPr>
          <a:xfrm>
            <a:off x="4882896" y="396849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PIPEDA compliance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6675120" y="3968496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0" name="Text 68"/>
          <p:cNvSpPr/>
          <p:nvPr/>
        </p:nvSpPr>
        <p:spPr>
          <a:xfrm>
            <a:off x="6803136" y="3968496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privacy standard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4754880" y="4297680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2" name="Text 70"/>
          <p:cNvSpPr/>
          <p:nvPr/>
        </p:nvSpPr>
        <p:spPr>
          <a:xfrm>
            <a:off x="4882896" y="42976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6675120" y="4297680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4" name="Text 72"/>
          <p:cNvSpPr/>
          <p:nvPr/>
        </p:nvSpPr>
        <p:spPr>
          <a:xfrm>
            <a:off x="6803136" y="429768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roles enforced</a:t>
            </a:r>
            <a:endParaRPr lang="en-US" sz="1150" dirty="0"/>
          </a:p>
        </p:txBody>
      </p:sp>
      <p:sp>
        <p:nvSpPr>
          <p:cNvPr id="75" name="Takeaway"/>
          <p:cNvSpPr/>
          <p:nvPr/>
        </p:nvSpPr>
        <p:spPr>
          <a:xfrm>
            <a:off x="411479" y="4621088"/>
            <a:ext cx="8536577" cy="438912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All targets met in local dev test environment. Page ~1.2s, search ~300ms, payment ~1.8s. Payment stub: 100% success.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Security &amp; Reliability NFRs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Security hardened from day one · Canadian privacy compliance · Reliability targets defined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CB5"/>
          <p:cNvSpPr/>
          <p:nvPr/>
        </p:nvSpPr>
        <p:spPr>
          <a:xfrm>
            <a:off x="411480" y="127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6" name="CT5"/>
          <p:cNvSpPr/>
          <p:nvPr/>
        </p:nvSpPr>
        <p:spPr>
          <a:xfrm>
            <a:off x="481480" y="134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AUTH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BCrypt Passwords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Industry-standard hashing — no plain-text passwords ever stored or transmitted.</a:t>
            </a:r>
          </a:p>
        </p:txBody>
      </p:sp>
      <p:sp>
        <p:nvSpPr>
          <p:cNvPr id="7" name="CB7"/>
          <p:cNvSpPr/>
          <p:nvPr/>
        </p:nvSpPr>
        <p:spPr>
          <a:xfrm>
            <a:off x="3218493" y="127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8" name="CT7"/>
          <p:cNvSpPr/>
          <p:nvPr/>
        </p:nvSpPr>
        <p:spPr>
          <a:xfrm>
            <a:off x="3288493" y="134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AUTH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JWT Token Lifecycle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Access: 1h expiry. Refresh: 30 days. Short-lived access minimises breach window.</a:t>
            </a:r>
          </a:p>
        </p:txBody>
      </p:sp>
      <p:sp>
        <p:nvSpPr>
          <p:cNvPr id="9" name="CB9"/>
          <p:cNvSpPr/>
          <p:nvPr/>
        </p:nvSpPr>
        <p:spPr>
          <a:xfrm>
            <a:off x="6025506" y="127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0" name="CT9"/>
          <p:cNvSpPr/>
          <p:nvPr/>
        </p:nvSpPr>
        <p:spPr>
          <a:xfrm>
            <a:off x="6095506" y="134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COMPLIANCE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PIPEDA (Canada)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Privacy by design. Minimal data collection. User consent enforced at registration.</a:t>
            </a:r>
          </a:p>
        </p:txBody>
      </p:sp>
      <p:sp>
        <p:nvSpPr>
          <p:cNvPr id="11" name="CB11"/>
          <p:cNvSpPr/>
          <p:nvPr/>
        </p:nvSpPr>
        <p:spPr>
          <a:xfrm>
            <a:off x="411480" y="275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2" name="CT11"/>
          <p:cNvSpPr/>
          <p:nvPr/>
        </p:nvSpPr>
        <p:spPr>
          <a:xfrm>
            <a:off x="481480" y="282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AVAILABILITY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99.5% Uptime SLA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Monthly uptime target. AWS EC2 deployment with defined restart procedures.</a:t>
            </a:r>
          </a:p>
        </p:txBody>
      </p:sp>
      <p:sp>
        <p:nvSpPr>
          <p:cNvPr id="13" name="CB13"/>
          <p:cNvSpPr/>
          <p:nvPr/>
        </p:nvSpPr>
        <p:spPr>
          <a:xfrm>
            <a:off x="3218493" y="275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4" name="CT13"/>
          <p:cNvSpPr/>
          <p:nvPr/>
        </p:nvSpPr>
        <p:spPr>
          <a:xfrm>
            <a:off x="3288493" y="282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RELIABILITY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MTTR &lt; 30 min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Mean time to recovery target. CI pipeline catches regressions before production.</a:t>
            </a:r>
          </a:p>
        </p:txBody>
      </p:sp>
      <p:sp>
        <p:nvSpPr>
          <p:cNvPr id="15" name="CB15"/>
          <p:cNvSpPr/>
          <p:nvPr/>
        </p:nvSpPr>
        <p:spPr>
          <a:xfrm>
            <a:off x="6025506" y="275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6" name="CT15"/>
          <p:cNvSpPr/>
          <p:nvPr/>
        </p:nvSpPr>
        <p:spPr>
          <a:xfrm>
            <a:off x="6095506" y="282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ACCESS CONTROL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Role-Based Guards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Tourist / Guide / Admin roles enforced on every single API endpoint.</a:t>
            </a:r>
          </a:p>
        </p:txBody>
      </p:sp>
      <p:sp>
        <p:nvSpPr>
          <p:cNvPr id="17" name="Takeaway"/>
          <p:cNvSpPr/>
          <p:nvPr/>
        </p:nvSpPr>
        <p:spPr>
          <a:xfrm>
            <a:off x="411480" y="4610000"/>
            <a:ext cx="859536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Security is not an afterthought — auth, access control, and PIPEDA compliance are built in from day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Deployment &amp; Next Steps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Current deployment state · Phase 2 backlog · Production roadmap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NowHdr"/>
          <p:cNvSpPr/>
          <p:nvPr/>
        </p:nvSpPr>
        <p:spPr>
          <a:xfrm>
            <a:off x="411480" y="1270000"/>
            <a:ext cx="4160000" cy="220000"/>
          </a:xfrm>
          <a:prstGeom prst="rect">
            <a:avLst/>
          </a:prstGeom>
          <a:solidFill>
            <a:srgbClr val="2A7F85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💻  Current State (Local Dev)</a:t>
            </a:r>
          </a:p>
        </p:txBody>
      </p:sp>
      <p:sp>
        <p:nvSpPr>
          <p:cNvPr id="6" name="Phase2Hdr"/>
          <p:cNvSpPr/>
          <p:nvPr/>
        </p:nvSpPr>
        <p:spPr>
          <a:xfrm>
            <a:off x="4786480" y="1270000"/>
            <a:ext cx="4160000" cy="220000"/>
          </a:xfrm>
          <a:prstGeom prst="rect">
            <a:avLst/>
          </a:prstGeom>
          <a:solidFill>
            <a:srgbClr val="DD6B2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🚀  Phase 2 — Production Deployment</a:t>
            </a:r>
          </a:p>
        </p:txBody>
      </p:sp>
      <p:sp>
        <p:nvSpPr>
          <p:cNvPr id="7" name="CI7"/>
          <p:cNvSpPr/>
          <p:nvPr/>
        </p:nvSpPr>
        <p:spPr>
          <a:xfrm>
            <a:off x="411480" y="1510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8" name="CIT7"/>
          <p:cNvSpPr/>
          <p:nvPr/>
        </p:nvSpPr>
        <p:spPr>
          <a:xfrm>
            <a:off x="481480" y="1540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Spring Boot on localhost:8080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H2 in-memory DB — resets on restart</a:t>
            </a:r>
          </a:p>
        </p:txBody>
      </p:sp>
      <p:sp>
        <p:nvSpPr>
          <p:cNvPr id="9" name="CI9"/>
          <p:cNvSpPr/>
          <p:nvPr/>
        </p:nvSpPr>
        <p:spPr>
          <a:xfrm>
            <a:off x="411480" y="2018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0" name="CIT9"/>
          <p:cNvSpPr/>
          <p:nvPr/>
        </p:nvSpPr>
        <p:spPr>
          <a:xfrm>
            <a:off x="481480" y="2048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Vue.js frontend on localhost:5173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Axios/JWT auth — all API calls work</a:t>
            </a:r>
          </a:p>
        </p:txBody>
      </p:sp>
      <p:sp>
        <p:nvSpPr>
          <p:cNvPr id="11" name="CI11"/>
          <p:cNvSpPr/>
          <p:nvPr/>
        </p:nvSpPr>
        <p:spPr>
          <a:xfrm>
            <a:off x="411480" y="2526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2" name="CIT11"/>
          <p:cNvSpPr/>
          <p:nvPr/>
        </p:nvSpPr>
        <p:spPr>
          <a:xfrm>
            <a:off x="481480" y="2556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GitHub Actions CI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Build + test runs on every push to main</a:t>
            </a:r>
          </a:p>
        </p:txBody>
      </p:sp>
      <p:sp>
        <p:nvSpPr>
          <p:cNvPr id="13" name="CI13"/>
          <p:cNvSpPr/>
          <p:nvPr/>
        </p:nvSpPr>
        <p:spPr>
          <a:xfrm>
            <a:off x="411480" y="3034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4" name="CIT13"/>
          <p:cNvSpPr/>
          <p:nvPr/>
        </p:nvSpPr>
        <p:spPr>
          <a:xfrm>
            <a:off x="481480" y="3064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PaymentGatewayPort stub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Simulates Stripe webhook — no real charges</a:t>
            </a:r>
          </a:p>
        </p:txBody>
      </p:sp>
      <p:sp>
        <p:nvSpPr>
          <p:cNvPr id="15" name="CI15"/>
          <p:cNvSpPr/>
          <p:nvPr/>
        </p:nvSpPr>
        <p:spPr>
          <a:xfrm>
            <a:off x="411480" y="3542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6" name="CIT15"/>
          <p:cNvSpPr/>
          <p:nvPr/>
        </p:nvSpPr>
        <p:spPr>
          <a:xfrm>
            <a:off x="481480" y="3572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NotificationPort stub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Logs email events — no real delivery</a:t>
            </a:r>
          </a:p>
        </p:txBody>
      </p:sp>
      <p:sp>
        <p:nvSpPr>
          <p:cNvPr id="17" name="CI17"/>
          <p:cNvSpPr/>
          <p:nvPr/>
        </p:nvSpPr>
        <p:spPr>
          <a:xfrm>
            <a:off x="4786480" y="1510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8" name="CIT17"/>
          <p:cNvSpPr/>
          <p:nvPr/>
        </p:nvSpPr>
        <p:spPr>
          <a:xfrm>
            <a:off x="4856480" y="1540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AWS EC2 deployment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Ubuntu server, Nginx reverse proxy, HTTPS</a:t>
            </a:r>
          </a:p>
        </p:txBody>
      </p:sp>
      <p:sp>
        <p:nvSpPr>
          <p:cNvPr id="19" name="CI19"/>
          <p:cNvSpPr/>
          <p:nvPr/>
        </p:nvSpPr>
        <p:spPr>
          <a:xfrm>
            <a:off x="4786480" y="2018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0" name="CIT19"/>
          <p:cNvSpPr/>
          <p:nvPr/>
        </p:nvSpPr>
        <p:spPr>
          <a:xfrm>
            <a:off x="4856480" y="2048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MySQL 8.0 on RDS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Replace H2 — persistent production data</a:t>
            </a:r>
          </a:p>
        </p:txBody>
      </p:sp>
      <p:sp>
        <p:nvSpPr>
          <p:cNvPr id="21" name="CI21"/>
          <p:cNvSpPr/>
          <p:nvPr/>
        </p:nvSpPr>
        <p:spPr>
          <a:xfrm>
            <a:off x="4786480" y="2526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2" name="CIT21"/>
          <p:cNvSpPr/>
          <p:nvPr/>
        </p:nvSpPr>
        <p:spPr>
          <a:xfrm>
            <a:off x="4856480" y="2556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Stripe SDK integration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Swap stub — real card processing live</a:t>
            </a:r>
          </a:p>
        </p:txBody>
      </p:sp>
      <p:sp>
        <p:nvSpPr>
          <p:cNvPr id="23" name="CI23"/>
          <p:cNvSpPr/>
          <p:nvPr/>
        </p:nvSpPr>
        <p:spPr>
          <a:xfrm>
            <a:off x="4786480" y="3034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4" name="CIT23"/>
          <p:cNvSpPr/>
          <p:nvPr/>
        </p:nvSpPr>
        <p:spPr>
          <a:xfrm>
            <a:off x="4856480" y="3064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SendGrid email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Swap stub — booking confirmation emails</a:t>
            </a:r>
          </a:p>
        </p:txBody>
      </p:sp>
      <p:sp>
        <p:nvSpPr>
          <p:cNvPr id="25" name="CI25"/>
          <p:cNvSpPr/>
          <p:nvPr/>
        </p:nvSpPr>
        <p:spPr>
          <a:xfrm>
            <a:off x="4786480" y="3542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6" name="CIT25"/>
          <p:cNvSpPr/>
          <p:nvPr/>
        </p:nvSpPr>
        <p:spPr>
          <a:xfrm>
            <a:off x="4856480" y="3572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Docker + CI/CD pipeline (planned)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Target state: auto-deploy on merge to main</a:t>
            </a:r>
          </a:p>
        </p:txBody>
      </p:sp>
      <p:sp>
        <p:nvSpPr>
          <p:cNvPr id="27" name="CI27"/>
          <p:cNvSpPr/>
          <p:nvPr/>
        </p:nvSpPr>
        <p:spPr>
          <a:xfrm>
            <a:off x="4786480" y="4050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8" name="CIT27"/>
          <p:cNvSpPr/>
          <p:nvPr/>
        </p:nvSpPr>
        <p:spPr>
          <a:xfrm>
            <a:off x="4856480" y="4080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GPS map integration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Guide location display on search results</a:t>
            </a:r>
          </a:p>
        </p:txBody>
      </p:sp>
      <p:sp>
        <p:nvSpPr>
          <p:cNvPr id="29" name="TK"/>
          <p:cNvSpPr/>
          <p:nvPr/>
        </p:nvSpPr>
        <p:spPr>
          <a:xfrm>
            <a:off x="411479" y="4760000"/>
            <a:ext cx="8582297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The system is deployment-ready — AWS EC2 target is defined. Phase 2 is a config change, not a rewrite.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Use Case Diagrams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Tourist  ·  Guide  ·  Administrator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411480" y="1220000"/>
            <a:ext cx="27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Tourist</a:t>
            </a:r>
          </a:p>
        </p:txBody>
      </p:sp>
      <p:pic>
        <p:nvPicPr>
          <p:cNvPr id="6" name="uc_tour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2700000" cy="14175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3193480" y="1220000"/>
            <a:ext cx="27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Guide</a:t>
            </a:r>
          </a:p>
        </p:txBody>
      </p:sp>
      <p:pic>
        <p:nvPicPr>
          <p:cNvPr id="8" name="uc_gui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480" y="1400000"/>
            <a:ext cx="2700000" cy="194625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9"/>
          <p:cNvSpPr/>
          <p:nvPr/>
        </p:nvSpPr>
        <p:spPr>
          <a:xfrm>
            <a:off x="5975480" y="1220000"/>
            <a:ext cx="27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Administrator</a:t>
            </a:r>
          </a:p>
        </p:txBody>
      </p:sp>
      <p:pic>
        <p:nvPicPr>
          <p:cNvPr id="10" name="uc_adm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480" y="1400000"/>
            <a:ext cx="2700000" cy="248625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Booking Flow — Live Screenshots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My Bookings  →  Pending → Payment  →  Confirmed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41148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1  My Bookings (Pending Payment)</a:t>
            </a:r>
          </a:p>
        </p:txBody>
      </p:sp>
      <p:pic>
        <p:nvPicPr>
          <p:cNvPr id="6" name="my_book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4000000" cy="909734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473252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2  Payment Page (Stripe Stub)</a:t>
            </a:r>
          </a:p>
        </p:txBody>
      </p:sp>
      <p:pic>
        <p:nvPicPr>
          <p:cNvPr id="8" name="payment_p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20" y="1400000"/>
            <a:ext cx="4000000" cy="1498404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9"/>
          <p:cNvSpPr/>
          <p:nvPr/>
        </p:nvSpPr>
        <p:spPr>
          <a:xfrm>
            <a:off x="411480" y="2738404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3  Payment Completed</a:t>
            </a:r>
          </a:p>
        </p:txBody>
      </p:sp>
      <p:pic>
        <p:nvPicPr>
          <p:cNvPr id="10" name="payment_comple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898404"/>
            <a:ext cx="4000000" cy="1928393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11" name="Label_11"/>
          <p:cNvSpPr/>
          <p:nvPr/>
        </p:nvSpPr>
        <p:spPr>
          <a:xfrm>
            <a:off x="4732520" y="3048404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4  Booking Confirmed</a:t>
            </a:r>
          </a:p>
        </p:txBody>
      </p:sp>
      <p:pic>
        <p:nvPicPr>
          <p:cNvPr id="12" name="booking_detai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520" y="3208404"/>
            <a:ext cx="4000000" cy="1455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Guide Portal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Dashboard  ·  Verification  ·  Tour Management  ·  Availability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41148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Dashboard</a:t>
            </a:r>
          </a:p>
        </p:txBody>
      </p:sp>
      <p:pic>
        <p:nvPicPr>
          <p:cNvPr id="6" name="guide_da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4000000" cy="1500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473252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Guide Verification Submission</a:t>
            </a:r>
          </a:p>
        </p:txBody>
      </p:sp>
      <p:pic>
        <p:nvPicPr>
          <p:cNvPr id="8" name="guide_ver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20" y="1400000"/>
            <a:ext cx="4000000" cy="1425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9"/>
          <p:cNvSpPr/>
          <p:nvPr/>
        </p:nvSpPr>
        <p:spPr>
          <a:xfrm>
            <a:off x="411480" y="305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Tour Management</a:t>
            </a:r>
          </a:p>
        </p:txBody>
      </p:sp>
      <p:pic>
        <p:nvPicPr>
          <p:cNvPr id="10" name="tour_mgm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262252"/>
            <a:ext cx="4000000" cy="1215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11" name="Label_11"/>
          <p:cNvSpPr/>
          <p:nvPr/>
        </p:nvSpPr>
        <p:spPr>
          <a:xfrm>
            <a:off x="4732520" y="305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Availability Calendar</a:t>
            </a:r>
          </a:p>
        </p:txBody>
      </p:sp>
      <p:pic>
        <p:nvPicPr>
          <p:cNvPr id="12" name="avail_c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520" y="3262252"/>
            <a:ext cx="4000000" cy="15775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Admin Panel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User Management  ·  Account Suspension  ·  Platform Oversight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1867662" y="1220000"/>
            <a:ext cx="5408676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User Management Table</a:t>
            </a:r>
          </a:p>
        </p:txBody>
      </p:sp>
      <p:pic>
        <p:nvPicPr>
          <p:cNvPr id="6" name="admin_user_mgm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662" y="1400000"/>
            <a:ext cx="5408676" cy="1964025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411480" y="3514025"/>
            <a:ext cx="832104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Account Suspended — Row Detail</a:t>
            </a:r>
          </a:p>
        </p:txBody>
      </p:sp>
      <p:pic>
        <p:nvPicPr>
          <p:cNvPr id="8" name="admin_suspe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211" y="3824025"/>
            <a:ext cx="7210697" cy="1146562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LocalGuide Connect — MVP Delivered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LocalGuide Connect  ·  CSIS 3275-003  ·  Group 3  ·  Spring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411480" y="1298448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576072" y="133502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76072" y="18470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" y="21762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C2C platform — Tourist, Guide &amp; Admin roles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298448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4754880" y="1298448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4919472" y="133502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480h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919472" y="18470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Invested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19472" y="21762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engineers × 12 weeks × Agile/Scrum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871216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Shape 14"/>
          <p:cNvSpPr/>
          <p:nvPr/>
        </p:nvSpPr>
        <p:spPr>
          <a:xfrm>
            <a:off x="411480" y="2871216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576072" y="29077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29/29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76072" y="3419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76072" y="3749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user story + 8 edge cases — zero failures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2871216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Shape 19"/>
          <p:cNvSpPr/>
          <p:nvPr/>
        </p:nvSpPr>
        <p:spPr>
          <a:xfrm>
            <a:off x="4754880" y="2871216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4919472" y="29077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919472" y="3419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OTA Standard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19472" y="3749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OTAs charge 20–30%. We charge 12%. Guides keep 88%.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11480" y="4663440"/>
            <a:ext cx="54864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runs end-to-end in local environment. Stripe, email &amp; GPS are Phase 2 targets.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40234" y="4814489"/>
            <a:ext cx="39319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8E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github.com/10000Katherine/LocalGuide_Software-Engineering</a:t>
            </a:r>
            <a:endParaRPr lang="en-US" sz="1100" dirty="0"/>
          </a:p>
        </p:txBody>
      </p:sp>
      <p:sp>
        <p:nvSpPr>
          <p:cNvPr id="28" name="Closing"/>
          <p:cNvSpPr/>
          <p:nvPr/>
        </p:nvSpPr>
        <p:spPr>
          <a:xfrm>
            <a:off x="411480" y="4210985"/>
            <a:ext cx="8321040" cy="380000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 wrap="square" lIns="182880" tIns="91440" rIns="182880" bIns="9144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Core MVP validated in local dev. Production deployment is Phase 2.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1829</Words>
  <Application>Microsoft Office PowerPoint</Application>
  <PresentationFormat>On-screen Show (16:9)</PresentationFormat>
  <Paragraphs>393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LocalGuide Connect — Final Presentation</dc:title>
  <dc:subject>PptxGenJS Presentation</dc:subject>
  <dc:creator>PptxGenJS</dc:creator>
  <cp:lastModifiedBy>Zhi Kang</cp:lastModifiedBy>
  <cp:revision>11</cp:revision>
  <dcterms:created xsi:type="dcterms:W3CDTF">2026-04-01T18:22:19Z</dcterms:created>
  <dcterms:modified xsi:type="dcterms:W3CDTF">2026-04-08T21:47:43Z</dcterms:modified>
</cp:coreProperties>
</file>