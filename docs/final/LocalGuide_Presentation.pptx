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59" r:id="rId6"/>
    <p:sldId id="260" r:id="rId7"/>
    <p:sldId id="265" r:id="rId8"/>
    <p:sldId id="273" r:id="rId9"/>
    <p:sldId id="261" r:id="rId10"/>
    <p:sldId id="262" r:id="rId11"/>
    <p:sldId id="263" r:id="rId12"/>
    <p:sldId id="271" r:id="rId13"/>
    <p:sldId id="274" r:id="rId14"/>
    <p:sldId id="266" r:id="rId15"/>
    <p:sldId id="267" r:id="rId16"/>
    <p:sldId id="268" r:id="rId17"/>
    <p:sldId id="269" r:id="rId18"/>
    <p:sldId id="26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42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560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 ·  Douglas College  ·  CSIS 3275-003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097280" cy="1097280"/>
          </a:xfrm>
          <a:prstGeom prst="line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0700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96012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LocalGuide Connect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737360" y="171907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11480" y="2377440"/>
            <a:ext cx="8321040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11480" y="254203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·  Zhi Kang  ·  Aarti Pandya  ·  Sehjalpreet  ·  Dong Zhang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" y="3127248"/>
            <a:ext cx="1920240" cy="402336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411480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32888" y="3127248"/>
            <a:ext cx="1920240" cy="402336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2532888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54296" y="3127248"/>
            <a:ext cx="1920240" cy="402336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4654296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75704" y="3127248"/>
            <a:ext cx="1920240" cy="402336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6775704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4206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Tour Guide Booking Platform  ·  15 MVP Features  ·  12-Week Agile Cycle  ·  480 Development Hours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guides lose income. Tourists lose trust. We fix both.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931920" cy="438912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21208" y="1298448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1188720" cy="822960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39496" y="1737360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00200" y="173736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728216" y="173736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lose 20–30% of every booking to OTA middlemen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633472"/>
            <a:ext cx="1188720" cy="822960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39496" y="2633472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00200" y="263347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728216" y="2633472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contracts, no reviews, no protection — tourists can’t verify guides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529584"/>
            <a:ext cx="1188720" cy="822960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39496" y="3529584"/>
            <a:ext cx="1060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00200" y="3529584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1728216" y="3529584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local guides have zero online discoverability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98448"/>
            <a:ext cx="3931920" cy="438912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864608" y="1298448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Solution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1097280" cy="603504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882896" y="1737360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2160" y="1737360"/>
            <a:ext cx="2834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980176" y="173736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keep 88% — vs 70–80% on OTAs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1097280" cy="603504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882896" y="240487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52160" y="2404872"/>
            <a:ext cx="2834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980176" y="2404872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 confirmed in &lt; 10 minutes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072384"/>
            <a:ext cx="1097280" cy="603504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882896" y="3072384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52160" y="3072384"/>
            <a:ext cx="2834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5980176" y="3072384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Identity-verified guides build tourist confidence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739896"/>
            <a:ext cx="1097280" cy="603504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882896" y="3739896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52160" y="3739896"/>
            <a:ext cx="2834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980176" y="373989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 across Tourist, Guide &amp; Admin roles</a:t>
            </a:r>
            <a:endParaRPr lang="en-US" sz="1200" dirty="0"/>
          </a:p>
        </p:txBody>
      </p:sp>
      <p:sp>
        <p:nvSpPr>
          <p:cNvPr id="37" name="Takeaway"/>
          <p:cNvSpPr/>
          <p:nvPr/>
        </p:nvSpPr>
        <p:spPr>
          <a:xfrm>
            <a:off x="411480" y="4760000"/>
            <a:ext cx="8321040" cy="30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📌  Key Takeaway: Tourists need trust. Guides need visibility. LocalGuide Connect delivers both.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Development Process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Parallel Modules  ·  6 Sprints  ·  12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42062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21208" y="129844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Team Members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1280160" cy="731520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39496" y="1719072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 Kang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1719072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819656" y="1719072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80360" y="1719072"/>
            <a:ext cx="1645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008376" y="1719072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JWT, tourist profile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1280160" cy="731520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39496" y="2523744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Aarti Pandya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91640" y="2523744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819656" y="2523744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80360" y="2523744"/>
            <a:ext cx="1645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008376" y="2523744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profiles, search, calendar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328416"/>
            <a:ext cx="1280160" cy="731520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39496" y="3328416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Sehjalpreet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91640" y="3328416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1819656" y="3328416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80360" y="3328416"/>
            <a:ext cx="1645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008376" y="3328416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flow, payment stub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133088"/>
            <a:ext cx="1280160" cy="731520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39496" y="4133088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 Zhang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691640" y="4133088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1819656" y="4133088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Reviews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80360" y="4133088"/>
            <a:ext cx="1645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3008376" y="413308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admin, CI pipeline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1298448"/>
            <a:ext cx="3840480" cy="42062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4956048" y="1298448"/>
            <a:ext cx="3730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Sprint Timeline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719072"/>
            <a:ext cx="1005840" cy="731520"/>
          </a:xfrm>
          <a:prstGeom prst="rect">
            <a:avLst/>
          </a:prstGeom>
          <a:solidFill>
            <a:srgbClr val="2A7F8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974336" y="1719072"/>
            <a:ext cx="87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1–2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52160" y="1719072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980176" y="1719072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JWT, DB schema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2523744"/>
            <a:ext cx="1005840" cy="731520"/>
          </a:xfrm>
          <a:prstGeom prst="rect">
            <a:avLst/>
          </a:prstGeom>
          <a:solidFill>
            <a:srgbClr val="2A7F8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4974336" y="2523744"/>
            <a:ext cx="87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3–4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52160" y="2523744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5980176" y="2523744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profiles, search, calendar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328416"/>
            <a:ext cx="1005840" cy="731520"/>
          </a:xfrm>
          <a:prstGeom prst="rect">
            <a:avLst/>
          </a:prstGeom>
          <a:solidFill>
            <a:srgbClr val="2A7F8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4974336" y="3328416"/>
            <a:ext cx="87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52160" y="3328416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5980176" y="3328416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panel, reviews, mobile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0" y="4133088"/>
            <a:ext cx="1005840" cy="731520"/>
          </a:xfrm>
          <a:prstGeom prst="rect">
            <a:avLst/>
          </a:prstGeom>
          <a:solidFill>
            <a:srgbClr val="2A7F8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4974336" y="4133088"/>
            <a:ext cx="87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52160" y="4133088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5980176" y="4133088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CI pipeline, docs</a:t>
            </a:r>
            <a:endParaRPr lang="en-US" sz="1200" dirty="0"/>
          </a:p>
        </p:txBody>
      </p:sp>
      <p:sp>
        <p:nvSpPr>
          <p:cNvPr id="49" name="Takeaway"/>
          <p:cNvSpPr/>
          <p:nvPr/>
        </p:nvSpPr>
        <p:spPr>
          <a:xfrm>
            <a:off x="411480" y="4760000"/>
            <a:ext cx="8321040" cy="30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📌  Key Takeaway: Each engineer owned one end-to-end module — parallel delivery with zero blocking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Current Status</a:t>
            </a:r>
          </a:p>
        </p:txBody>
      </p:sp>
      <p:sp>
        <p:nvSpPr>
          <p:cNvPr id="3" name="Sub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What is complete · What is running · What is Phase 2</a:t>
            </a:r>
          </a:p>
        </p:txBody>
      </p:sp>
      <p:sp>
        <p:nvSpPr>
          <p:cNvPr id="4" name="Sep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5" name="SRBox5"/>
          <p:cNvSpPr/>
          <p:nvPr/>
        </p:nvSpPr>
        <p:spPr>
          <a:xfrm>
            <a:off x="411480" y="1250000"/>
            <a:ext cx="8321040" cy="490000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6" name="SRTxt5"/>
          <p:cNvSpPr/>
          <p:nvPr/>
        </p:nvSpPr>
        <p:spPr>
          <a:xfrm>
            <a:off x="501480" y="1290000"/>
            <a:ext cx="774104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</a:rPr>
              <a:t>✅  15 Core Features Implemented 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Tourist, Guide &amp; Admin flows — all built and functional</a:t>
            </a:r>
          </a:p>
        </p:txBody>
      </p:sp>
      <p:sp>
        <p:nvSpPr>
          <p:cNvPr id="7" name="SRBadge5"/>
          <p:cNvSpPr/>
          <p:nvPr/>
        </p:nvSpPr>
        <p:spPr>
          <a:xfrm>
            <a:off x="8007531" y="1410000"/>
            <a:ext cx="624989" cy="170000"/>
          </a:xfrm>
          <a:prstGeom prst="roundRect">
            <a:avLst>
              <a:gd name="adj" fmla="val 25000"/>
            </a:avLst>
          </a:prstGeom>
          <a:solidFill>
            <a:srgbClr val="2A7F85"/>
          </a:solidFill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DONE</a:t>
            </a:r>
          </a:p>
        </p:txBody>
      </p:sp>
      <p:sp>
        <p:nvSpPr>
          <p:cNvPr id="8" name="SRBox8"/>
          <p:cNvSpPr/>
          <p:nvPr/>
        </p:nvSpPr>
        <p:spPr>
          <a:xfrm>
            <a:off x="411480" y="1768000"/>
            <a:ext cx="8321040" cy="490000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9" name="SRTxt8"/>
          <p:cNvSpPr/>
          <p:nvPr/>
        </p:nvSpPr>
        <p:spPr>
          <a:xfrm>
            <a:off x="501480" y="1808000"/>
            <a:ext cx="774104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</a:rPr>
              <a:t>✅  Runs in Local Dev Environment 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Spring Boot + Vue.js + H2 in-memory — runnable on any dev machine</a:t>
            </a:r>
          </a:p>
        </p:txBody>
      </p:sp>
      <p:sp>
        <p:nvSpPr>
          <p:cNvPr id="10" name="SRBadge8"/>
          <p:cNvSpPr/>
          <p:nvPr/>
        </p:nvSpPr>
        <p:spPr>
          <a:xfrm>
            <a:off x="8007531" y="1928000"/>
            <a:ext cx="624989" cy="170000"/>
          </a:xfrm>
          <a:prstGeom prst="roundRect">
            <a:avLst>
              <a:gd name="adj" fmla="val 25000"/>
            </a:avLst>
          </a:prstGeom>
          <a:solidFill>
            <a:srgbClr val="38A169"/>
          </a:solidFill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RUNNING</a:t>
            </a:r>
          </a:p>
        </p:txBody>
      </p:sp>
      <p:sp>
        <p:nvSpPr>
          <p:cNvPr id="11" name="SRBox11"/>
          <p:cNvSpPr/>
          <p:nvPr/>
        </p:nvSpPr>
        <p:spPr>
          <a:xfrm>
            <a:off x="411480" y="2286000"/>
            <a:ext cx="8321040" cy="490000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2" name="SRTxt11"/>
          <p:cNvSpPr/>
          <p:nvPr/>
        </p:nvSpPr>
        <p:spPr>
          <a:xfrm>
            <a:off x="501480" y="2326000"/>
            <a:ext cx="774104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</a:rPr>
              <a:t>✅  29/29 Test Cases Passed 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Manual end-to-end testing in local dev — 21 user story + 8 edge cases</a:t>
            </a:r>
          </a:p>
        </p:txBody>
      </p:sp>
      <p:sp>
        <p:nvSpPr>
          <p:cNvPr id="13" name="SRBadge11"/>
          <p:cNvSpPr/>
          <p:nvPr/>
        </p:nvSpPr>
        <p:spPr>
          <a:xfrm>
            <a:off x="8007531" y="2446000"/>
            <a:ext cx="624989" cy="170000"/>
          </a:xfrm>
          <a:prstGeom prst="roundRect">
            <a:avLst>
              <a:gd name="adj" fmla="val 25000"/>
            </a:avLst>
          </a:prstGeom>
          <a:solidFill>
            <a:srgbClr val="2A7F85"/>
          </a:solidFill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DONE</a:t>
            </a:r>
          </a:p>
        </p:txBody>
      </p:sp>
      <p:sp>
        <p:nvSpPr>
          <p:cNvPr id="14" name="SRBox14"/>
          <p:cNvSpPr/>
          <p:nvPr/>
        </p:nvSpPr>
        <p:spPr>
          <a:xfrm>
            <a:off x="411480" y="2804000"/>
            <a:ext cx="8321040" cy="490000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5" name="SRTxt14"/>
          <p:cNvSpPr/>
          <p:nvPr/>
        </p:nvSpPr>
        <p:spPr>
          <a:xfrm>
            <a:off x="501480" y="2844000"/>
            <a:ext cx="774104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</a:rPr>
              <a:t>✅  GitHub Actions CI Pipeline Active 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Auto build + test on every push — CI checks reduce broken code risk</a:t>
            </a:r>
          </a:p>
        </p:txBody>
      </p:sp>
      <p:sp>
        <p:nvSpPr>
          <p:cNvPr id="16" name="SRBadge14"/>
          <p:cNvSpPr/>
          <p:nvPr/>
        </p:nvSpPr>
        <p:spPr>
          <a:xfrm>
            <a:off x="8007531" y="2964000"/>
            <a:ext cx="624989" cy="170000"/>
          </a:xfrm>
          <a:prstGeom prst="roundRect">
            <a:avLst>
              <a:gd name="adj" fmla="val 25000"/>
            </a:avLst>
          </a:prstGeom>
          <a:solidFill>
            <a:srgbClr val="2A7F85"/>
          </a:solidFill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DONE</a:t>
            </a:r>
          </a:p>
        </p:txBody>
      </p:sp>
      <p:sp>
        <p:nvSpPr>
          <p:cNvPr id="17" name="SRBox17"/>
          <p:cNvSpPr/>
          <p:nvPr/>
        </p:nvSpPr>
        <p:spPr>
          <a:xfrm>
            <a:off x="411480" y="3322000"/>
            <a:ext cx="8321040" cy="490000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8" name="SRTxt17"/>
          <p:cNvSpPr/>
          <p:nvPr/>
        </p:nvSpPr>
        <p:spPr>
          <a:xfrm>
            <a:off x="501480" y="3362000"/>
            <a:ext cx="774104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</a:rPr>
              <a:t>⏳  AWS EC2 Production Deployment 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Architecture designed for EC2 — not yet deployed to live server</a:t>
            </a:r>
          </a:p>
        </p:txBody>
      </p:sp>
      <p:sp>
        <p:nvSpPr>
          <p:cNvPr id="19" name="SRBadge17"/>
          <p:cNvSpPr/>
          <p:nvPr/>
        </p:nvSpPr>
        <p:spPr>
          <a:xfrm>
            <a:off x="8007531" y="3482000"/>
            <a:ext cx="624989" cy="170000"/>
          </a:xfrm>
          <a:prstGeom prst="roundRect">
            <a:avLst>
              <a:gd name="adj" fmla="val 25000"/>
            </a:avLst>
          </a:prstGeom>
          <a:solidFill>
            <a:srgbClr val="DD6B20"/>
          </a:solidFill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PHASE 2</a:t>
            </a:r>
          </a:p>
        </p:txBody>
      </p:sp>
      <p:sp>
        <p:nvSpPr>
          <p:cNvPr id="20" name="SRBox20"/>
          <p:cNvSpPr/>
          <p:nvPr/>
        </p:nvSpPr>
        <p:spPr>
          <a:xfrm>
            <a:off x="411480" y="3840000"/>
            <a:ext cx="8321040" cy="490000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1" name="SRTxt20"/>
          <p:cNvSpPr/>
          <p:nvPr/>
        </p:nvSpPr>
        <p:spPr>
          <a:xfrm>
            <a:off x="501480" y="3880000"/>
            <a:ext cx="774104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</a:rPr>
              <a:t>⏳  Real Stripe Payment Integration 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PaymentGatewayPort stub is Stripe-ready — real SDK is Phase 2</a:t>
            </a:r>
          </a:p>
        </p:txBody>
      </p:sp>
      <p:sp>
        <p:nvSpPr>
          <p:cNvPr id="22" name="SRBadge20"/>
          <p:cNvSpPr/>
          <p:nvPr/>
        </p:nvSpPr>
        <p:spPr>
          <a:xfrm>
            <a:off x="8007531" y="4000000"/>
            <a:ext cx="624989" cy="170000"/>
          </a:xfrm>
          <a:prstGeom prst="roundRect">
            <a:avLst>
              <a:gd name="adj" fmla="val 25000"/>
            </a:avLst>
          </a:prstGeom>
          <a:solidFill>
            <a:srgbClr val="DD6B20"/>
          </a:solidFill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PHASE 2</a:t>
            </a:r>
          </a:p>
        </p:txBody>
      </p:sp>
      <p:sp>
        <p:nvSpPr>
          <p:cNvPr id="23" name="SRBox23"/>
          <p:cNvSpPr/>
          <p:nvPr/>
        </p:nvSpPr>
        <p:spPr>
          <a:xfrm>
            <a:off x="411480" y="4358000"/>
            <a:ext cx="8321040" cy="490000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4" name="SRTxt23"/>
          <p:cNvSpPr/>
          <p:nvPr/>
        </p:nvSpPr>
        <p:spPr>
          <a:xfrm>
            <a:off x="501480" y="4398000"/>
            <a:ext cx="774104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</a:rPr>
              <a:t>⏳  SendGrid Email Notifications  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NotificationPort stub implemented — SendGrid wiring is Phase 2</a:t>
            </a:r>
          </a:p>
        </p:txBody>
      </p:sp>
      <p:sp>
        <p:nvSpPr>
          <p:cNvPr id="25" name="SRBadge23"/>
          <p:cNvSpPr/>
          <p:nvPr/>
        </p:nvSpPr>
        <p:spPr>
          <a:xfrm>
            <a:off x="8007531" y="4518000"/>
            <a:ext cx="624989" cy="170000"/>
          </a:xfrm>
          <a:prstGeom prst="roundRect">
            <a:avLst>
              <a:gd name="adj" fmla="val 25000"/>
            </a:avLst>
          </a:prstGeom>
          <a:solidFill>
            <a:srgbClr val="DD6B20"/>
          </a:solidFill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PHASE 2</a:t>
            </a:r>
          </a:p>
        </p:txBody>
      </p:sp>
      <p:sp>
        <p:nvSpPr>
          <p:cNvPr id="26" name="TK"/>
          <p:cNvSpPr/>
          <p:nvPr/>
        </p:nvSpPr>
        <p:spPr>
          <a:xfrm>
            <a:off x="13063" y="4848000"/>
            <a:ext cx="9130937" cy="28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Key Takeaway: Core MVP is complete and running locally. Production deployment and real third-party integrations are Phase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running locally · deployed architecture designed for AWS EC2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97480" cy="42062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21208" y="1261872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82496"/>
            <a:ext cx="269748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73736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682496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 SPA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10312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39496" y="2103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UI pages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2578608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539496" y="2578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JWT interceptor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05409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539496" y="30540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state mgmt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3529584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539496" y="352958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/ Mobile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64408" y="1261872"/>
            <a:ext cx="2697480" cy="42062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3374136" y="1261872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Backend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64408" y="1682496"/>
            <a:ext cx="269748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737360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39896" y="1682496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3.3.2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264408" y="210312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0"/>
          <p:cNvSpPr/>
          <p:nvPr/>
        </p:nvSpPr>
        <p:spPr>
          <a:xfrm>
            <a:off x="3392424" y="2103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Java 17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264408" y="2578608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2"/>
          <p:cNvSpPr/>
          <p:nvPr/>
        </p:nvSpPr>
        <p:spPr>
          <a:xfrm>
            <a:off x="3392424" y="2578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AuthFilter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264408" y="305409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4"/>
          <p:cNvSpPr/>
          <p:nvPr/>
        </p:nvSpPr>
        <p:spPr>
          <a:xfrm>
            <a:off x="3392424" y="30540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264408" y="3529584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6"/>
          <p:cNvSpPr/>
          <p:nvPr/>
        </p:nvSpPr>
        <p:spPr>
          <a:xfrm>
            <a:off x="3392424" y="352958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YAML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117336" y="1261872"/>
            <a:ext cx="2697480" cy="42062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8"/>
          <p:cNvSpPr/>
          <p:nvPr/>
        </p:nvSpPr>
        <p:spPr>
          <a:xfrm>
            <a:off x="6227064" y="1261872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Layer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117336" y="1682496"/>
            <a:ext cx="269748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737360"/>
            <a:ext cx="310896" cy="31089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592824" y="1682496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(dev) / MySQL 8.0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117336" y="210312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2"/>
          <p:cNvSpPr/>
          <p:nvPr/>
        </p:nvSpPr>
        <p:spPr>
          <a:xfrm>
            <a:off x="6245352" y="21031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schema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117336" y="2578608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4"/>
          <p:cNvSpPr/>
          <p:nvPr/>
        </p:nvSpPr>
        <p:spPr>
          <a:xfrm>
            <a:off x="6245352" y="2578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Repository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117336" y="305409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6"/>
          <p:cNvSpPr/>
          <p:nvPr/>
        </p:nvSpPr>
        <p:spPr>
          <a:xfrm>
            <a:off x="6245352" y="30540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(dev)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6117336" y="3529584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38"/>
          <p:cNvSpPr/>
          <p:nvPr/>
        </p:nvSpPr>
        <p:spPr>
          <a:xfrm>
            <a:off x="6245352" y="352958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(prod)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411480" y="4096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concerns: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2487168" y="4096512"/>
            <a:ext cx="2084832" cy="329184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1"/>
          <p:cNvSpPr/>
          <p:nvPr/>
        </p:nvSpPr>
        <p:spPr>
          <a:xfrm>
            <a:off x="2578608" y="409651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PaymentGatewayPort stub → Stripe SDK in Phase 2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4718304" y="4096512"/>
            <a:ext cx="2084832" cy="329184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3"/>
          <p:cNvSpPr/>
          <p:nvPr/>
        </p:nvSpPr>
        <p:spPr>
          <a:xfrm>
            <a:off x="4809744" y="409651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NotificationPort stub → SendGrid in Phase 2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6949440" y="4096512"/>
            <a:ext cx="2084832" cy="329184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5"/>
          <p:cNvSpPr/>
          <p:nvPr/>
        </p:nvSpPr>
        <p:spPr>
          <a:xfrm>
            <a:off x="7040880" y="409651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on every push</a:t>
            </a:r>
            <a:endParaRPr lang="en-US" sz="1050" dirty="0"/>
          </a:p>
        </p:txBody>
      </p:sp>
      <p:pic>
        <p:nvPicPr>
          <p:cNvPr id="51" name="arch_diagram" descr="System Architecture Di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9875" y="4430000"/>
            <a:ext cx="3924250" cy="713500"/>
          </a:xfrm>
          <a:prstGeom prst="rect">
            <a:avLst/>
          </a:prstGeom>
        </p:spPr>
      </p:pic>
      <p:sp>
        <p:nvSpPr>
          <p:cNvPr id="52" name="Takeaway"/>
          <p:cNvSpPr/>
          <p:nvPr/>
        </p:nvSpPr>
        <p:spPr>
          <a:xfrm>
            <a:off x="411480" y="4760000"/>
            <a:ext cx="8321040" cy="30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Status: All 3 tiers implemented and functional in local dev environment. AWS EC2 deployment is Phase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 Delivered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user journeys completed within MVP scope (payment &amp; email use stubs)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97480" cy="438912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167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3544" y="12618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1700784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502920" y="1801368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502920" y="1801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" y="1700784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(JWT)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1480" y="2176272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502920" y="2276856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502920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5528" y="217627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city / category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65176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4"/>
          <p:cNvSpPr/>
          <p:nvPr/>
        </p:nvSpPr>
        <p:spPr>
          <a:xfrm>
            <a:off x="502920" y="2752344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502920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" y="26517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profiles &amp; reviews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1480" y="3127248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8"/>
          <p:cNvSpPr/>
          <p:nvPr/>
        </p:nvSpPr>
        <p:spPr>
          <a:xfrm>
            <a:off x="502920" y="3227832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502920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5528" y="3127248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 request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11480" y="360273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2"/>
          <p:cNvSpPr/>
          <p:nvPr/>
        </p:nvSpPr>
        <p:spPr>
          <a:xfrm>
            <a:off x="502920" y="3703320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3"/>
          <p:cNvSpPr/>
          <p:nvPr/>
        </p:nvSpPr>
        <p:spPr>
          <a:xfrm>
            <a:off x="502920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5528" y="3602736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simulation (stub)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11480" y="4078224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6"/>
          <p:cNvSpPr/>
          <p:nvPr/>
        </p:nvSpPr>
        <p:spPr>
          <a:xfrm>
            <a:off x="502920" y="4178808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7"/>
          <p:cNvSpPr/>
          <p:nvPr/>
        </p:nvSpPr>
        <p:spPr>
          <a:xfrm>
            <a:off x="502920" y="4178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95528" y="4078224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11480" y="4553712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0"/>
          <p:cNvSpPr/>
          <p:nvPr/>
        </p:nvSpPr>
        <p:spPr>
          <a:xfrm>
            <a:off x="502920" y="4654296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1"/>
          <p:cNvSpPr/>
          <p:nvPr/>
        </p:nvSpPr>
        <p:spPr>
          <a:xfrm>
            <a:off x="502920" y="4654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95528" y="4517136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post-tour review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3264408" y="1261872"/>
            <a:ext cx="2697480" cy="438912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316736"/>
            <a:ext cx="329184" cy="32918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776472" y="12618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3264408" y="1700784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6"/>
          <p:cNvSpPr/>
          <p:nvPr/>
        </p:nvSpPr>
        <p:spPr>
          <a:xfrm>
            <a:off x="3355848" y="1801368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7"/>
          <p:cNvSpPr/>
          <p:nvPr/>
        </p:nvSpPr>
        <p:spPr>
          <a:xfrm>
            <a:off x="3355848" y="1801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3648456" y="1700784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+ submit docs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3264408" y="2176272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40"/>
          <p:cNvSpPr/>
          <p:nvPr/>
        </p:nvSpPr>
        <p:spPr>
          <a:xfrm>
            <a:off x="3355848" y="2276856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1"/>
          <p:cNvSpPr/>
          <p:nvPr/>
        </p:nvSpPr>
        <p:spPr>
          <a:xfrm>
            <a:off x="3355848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3648456" y="217627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tour listings &amp; pricing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3264408" y="265176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Shape 44"/>
          <p:cNvSpPr/>
          <p:nvPr/>
        </p:nvSpPr>
        <p:spPr>
          <a:xfrm>
            <a:off x="3355848" y="2752344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5"/>
          <p:cNvSpPr/>
          <p:nvPr/>
        </p:nvSpPr>
        <p:spPr>
          <a:xfrm>
            <a:off x="3355848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3648456" y="26517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availability calendar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3264408" y="3127248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Shape 48"/>
          <p:cNvSpPr/>
          <p:nvPr/>
        </p:nvSpPr>
        <p:spPr>
          <a:xfrm>
            <a:off x="3355848" y="3227832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49"/>
          <p:cNvSpPr/>
          <p:nvPr/>
        </p:nvSpPr>
        <p:spPr>
          <a:xfrm>
            <a:off x="3355848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3648456" y="3127248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decline bookings</a:t>
            </a:r>
            <a:endParaRPr lang="en-US" sz="1150" dirty="0"/>
          </a:p>
        </p:txBody>
      </p:sp>
      <p:sp>
        <p:nvSpPr>
          <p:cNvPr id="55" name="Shape 51"/>
          <p:cNvSpPr/>
          <p:nvPr/>
        </p:nvSpPr>
        <p:spPr>
          <a:xfrm>
            <a:off x="3264408" y="360273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Shape 52"/>
          <p:cNvSpPr/>
          <p:nvPr/>
        </p:nvSpPr>
        <p:spPr>
          <a:xfrm>
            <a:off x="3355848" y="3703320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Text 53"/>
          <p:cNvSpPr/>
          <p:nvPr/>
        </p:nvSpPr>
        <p:spPr>
          <a:xfrm>
            <a:off x="3355848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3648456" y="3602736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dashboard</a:t>
            </a:r>
            <a:endParaRPr lang="en-US" sz="1150" dirty="0"/>
          </a:p>
        </p:txBody>
      </p:sp>
      <p:sp>
        <p:nvSpPr>
          <p:cNvPr id="59" name="Shape 55"/>
          <p:cNvSpPr/>
          <p:nvPr/>
        </p:nvSpPr>
        <p:spPr>
          <a:xfrm>
            <a:off x="3264408" y="4078224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Shape 56"/>
          <p:cNvSpPr/>
          <p:nvPr/>
        </p:nvSpPr>
        <p:spPr>
          <a:xfrm>
            <a:off x="3355848" y="4178808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1" name="Text 57"/>
          <p:cNvSpPr/>
          <p:nvPr/>
        </p:nvSpPr>
        <p:spPr>
          <a:xfrm>
            <a:off x="3355848" y="4178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3648456" y="4078224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upcoming bookings</a:t>
            </a:r>
            <a:endParaRPr lang="en-US" sz="1150" dirty="0"/>
          </a:p>
        </p:txBody>
      </p:sp>
      <p:sp>
        <p:nvSpPr>
          <p:cNvPr id="63" name="Shape 59"/>
          <p:cNvSpPr/>
          <p:nvPr/>
        </p:nvSpPr>
        <p:spPr>
          <a:xfrm>
            <a:off x="3264408" y="4553712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Shape 60"/>
          <p:cNvSpPr/>
          <p:nvPr/>
        </p:nvSpPr>
        <p:spPr>
          <a:xfrm>
            <a:off x="3355848" y="4654296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5" name="Text 61"/>
          <p:cNvSpPr/>
          <p:nvPr/>
        </p:nvSpPr>
        <p:spPr>
          <a:xfrm>
            <a:off x="3355848" y="4654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3648456" y="451844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tourist reviews</a:t>
            </a:r>
            <a:endParaRPr lang="en-US" sz="1150" dirty="0"/>
          </a:p>
        </p:txBody>
      </p:sp>
      <p:sp>
        <p:nvSpPr>
          <p:cNvPr id="67" name="Shape 63"/>
          <p:cNvSpPr/>
          <p:nvPr/>
        </p:nvSpPr>
        <p:spPr>
          <a:xfrm>
            <a:off x="6117336" y="1261872"/>
            <a:ext cx="2697480" cy="438912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316736"/>
            <a:ext cx="329184" cy="329184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6629400" y="12618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70" name="Shape 65"/>
          <p:cNvSpPr/>
          <p:nvPr/>
        </p:nvSpPr>
        <p:spPr>
          <a:xfrm>
            <a:off x="6117336" y="1700784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1" name="Shape 66"/>
          <p:cNvSpPr/>
          <p:nvPr/>
        </p:nvSpPr>
        <p:spPr>
          <a:xfrm>
            <a:off x="6208776" y="1801368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Text 67"/>
          <p:cNvSpPr/>
          <p:nvPr/>
        </p:nvSpPr>
        <p:spPr>
          <a:xfrm>
            <a:off x="6208776" y="1801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3" name="Text 68"/>
          <p:cNvSpPr/>
          <p:nvPr/>
        </p:nvSpPr>
        <p:spPr>
          <a:xfrm>
            <a:off x="6501384" y="1700784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guide verifications</a:t>
            </a:r>
            <a:endParaRPr lang="en-US" sz="1150" dirty="0"/>
          </a:p>
        </p:txBody>
      </p:sp>
      <p:sp>
        <p:nvSpPr>
          <p:cNvPr id="74" name="Shape 69"/>
          <p:cNvSpPr/>
          <p:nvPr/>
        </p:nvSpPr>
        <p:spPr>
          <a:xfrm>
            <a:off x="6117336" y="2176272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5" name="Shape 70"/>
          <p:cNvSpPr/>
          <p:nvPr/>
        </p:nvSpPr>
        <p:spPr>
          <a:xfrm>
            <a:off x="6208776" y="2276856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6" name="Text 71"/>
          <p:cNvSpPr/>
          <p:nvPr/>
        </p:nvSpPr>
        <p:spPr>
          <a:xfrm>
            <a:off x="6208776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7" name="Text 72"/>
          <p:cNvSpPr/>
          <p:nvPr/>
        </p:nvSpPr>
        <p:spPr>
          <a:xfrm>
            <a:off x="6501384" y="2176272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management</a:t>
            </a:r>
            <a:endParaRPr lang="en-US" sz="1150" dirty="0"/>
          </a:p>
        </p:txBody>
      </p:sp>
      <p:sp>
        <p:nvSpPr>
          <p:cNvPr id="78" name="Shape 73"/>
          <p:cNvSpPr/>
          <p:nvPr/>
        </p:nvSpPr>
        <p:spPr>
          <a:xfrm>
            <a:off x="6117336" y="265176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9" name="Shape 74"/>
          <p:cNvSpPr/>
          <p:nvPr/>
        </p:nvSpPr>
        <p:spPr>
          <a:xfrm>
            <a:off x="6208776" y="2752344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0" name="Text 75"/>
          <p:cNvSpPr/>
          <p:nvPr/>
        </p:nvSpPr>
        <p:spPr>
          <a:xfrm>
            <a:off x="6208776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1" name="Text 76"/>
          <p:cNvSpPr/>
          <p:nvPr/>
        </p:nvSpPr>
        <p:spPr>
          <a:xfrm>
            <a:off x="6501384" y="26517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82" name="Shape 77"/>
          <p:cNvSpPr/>
          <p:nvPr/>
        </p:nvSpPr>
        <p:spPr>
          <a:xfrm>
            <a:off x="6117336" y="3127248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3" name="Shape 78"/>
          <p:cNvSpPr/>
          <p:nvPr/>
        </p:nvSpPr>
        <p:spPr>
          <a:xfrm>
            <a:off x="6208776" y="3227832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4" name="Text 79"/>
          <p:cNvSpPr/>
          <p:nvPr/>
        </p:nvSpPr>
        <p:spPr>
          <a:xfrm>
            <a:off x="6208776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5" name="Text 80"/>
          <p:cNvSpPr/>
          <p:nvPr/>
        </p:nvSpPr>
        <p:spPr>
          <a:xfrm>
            <a:off x="6501384" y="3127248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/ reactivate accounts</a:t>
            </a:r>
            <a:endParaRPr lang="en-US" sz="1150" dirty="0"/>
          </a:p>
        </p:txBody>
      </p:sp>
      <p:sp>
        <p:nvSpPr>
          <p:cNvPr id="86" name="Shape 81"/>
          <p:cNvSpPr/>
          <p:nvPr/>
        </p:nvSpPr>
        <p:spPr>
          <a:xfrm>
            <a:off x="6117336" y="360273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7" name="Shape 82"/>
          <p:cNvSpPr/>
          <p:nvPr/>
        </p:nvSpPr>
        <p:spPr>
          <a:xfrm>
            <a:off x="6208776" y="3703320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8" name="Text 83"/>
          <p:cNvSpPr/>
          <p:nvPr/>
        </p:nvSpPr>
        <p:spPr>
          <a:xfrm>
            <a:off x="6208776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9" name="Text 84"/>
          <p:cNvSpPr/>
          <p:nvPr/>
        </p:nvSpPr>
        <p:spPr>
          <a:xfrm>
            <a:off x="6501384" y="3602736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listing moderation</a:t>
            </a:r>
            <a:endParaRPr lang="en-US" sz="1150" dirty="0"/>
          </a:p>
        </p:txBody>
      </p:sp>
      <p:sp>
        <p:nvSpPr>
          <p:cNvPr id="90" name="Shape 85"/>
          <p:cNvSpPr/>
          <p:nvPr/>
        </p:nvSpPr>
        <p:spPr>
          <a:xfrm>
            <a:off x="6117336" y="4078224"/>
            <a:ext cx="269748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1" name="Shape 86"/>
          <p:cNvSpPr/>
          <p:nvPr/>
        </p:nvSpPr>
        <p:spPr>
          <a:xfrm>
            <a:off x="6208776" y="4178808"/>
            <a:ext cx="219456" cy="219456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2" name="Text 87"/>
          <p:cNvSpPr/>
          <p:nvPr/>
        </p:nvSpPr>
        <p:spPr>
          <a:xfrm>
            <a:off x="6208776" y="4178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3" name="Text 88"/>
          <p:cNvSpPr/>
          <p:nvPr/>
        </p:nvSpPr>
        <p:spPr>
          <a:xfrm>
            <a:off x="6501384" y="4078224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oversight</a:t>
            </a:r>
            <a:endParaRPr lang="en-US" sz="1150" dirty="0"/>
          </a:p>
        </p:txBody>
      </p:sp>
      <p:sp>
        <p:nvSpPr>
          <p:cNvPr id="94" name="Takeaway"/>
          <p:cNvSpPr/>
          <p:nvPr/>
        </p:nvSpPr>
        <p:spPr>
          <a:xfrm>
            <a:off x="411480" y="4823500"/>
            <a:ext cx="8321040" cy="28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Key Takeaway: 15 features across 3 roles delivered in 12 weeks — core user journeys complete within MVP scope.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UI Showcase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All screens built and running — no mocks, no placeholders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Label_home"/>
          <p:cNvSpPr/>
          <p:nvPr/>
        </p:nvSpPr>
        <p:spPr>
          <a:xfrm>
            <a:off x="411480" y="1220000"/>
            <a:ext cx="40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Homepage</a:t>
            </a:r>
          </a:p>
        </p:txBody>
      </p:sp>
      <p:pic>
        <p:nvPicPr>
          <p:cNvPr id="6" name="img_homepage" descr="Homepag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0000"/>
            <a:ext cx="4000000" cy="105000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7" name="Label_guide"/>
          <p:cNvSpPr/>
          <p:nvPr/>
        </p:nvSpPr>
        <p:spPr>
          <a:xfrm>
            <a:off x="4732520" y="1220000"/>
            <a:ext cx="40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Guide Profile</a:t>
            </a:r>
          </a:p>
        </p:txBody>
      </p:sp>
      <p:pic>
        <p:nvPicPr>
          <p:cNvPr id="8" name="img_guide" descr="Guide Profil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520" y="1400000"/>
            <a:ext cx="4000000" cy="170909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9" name="Label_search"/>
          <p:cNvSpPr/>
          <p:nvPr/>
        </p:nvSpPr>
        <p:spPr>
          <a:xfrm>
            <a:off x="411480" y="2720083"/>
            <a:ext cx="40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Search Results</a:t>
            </a:r>
          </a:p>
        </p:txBody>
      </p:sp>
      <p:pic>
        <p:nvPicPr>
          <p:cNvPr id="10" name="img_search" descr="Search Results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900083"/>
            <a:ext cx="4000000" cy="1653333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11" name="Label_admin"/>
          <p:cNvSpPr/>
          <p:nvPr/>
        </p:nvSpPr>
        <p:spPr>
          <a:xfrm>
            <a:off x="4732520" y="3200000"/>
            <a:ext cx="40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Admin Analytics Dashboard</a:t>
            </a:r>
          </a:p>
        </p:txBody>
      </p:sp>
      <p:pic>
        <p:nvPicPr>
          <p:cNvPr id="12" name="img_admin" descr="Admin Analytics Dashboard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520" y="3380000"/>
            <a:ext cx="4000000" cy="816847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13" name="Takeaway"/>
          <p:cNvSpPr/>
          <p:nvPr/>
        </p:nvSpPr>
        <p:spPr>
          <a:xfrm>
            <a:off x="411480" y="4823500"/>
            <a:ext cx="8321040" cy="28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Key Takeaway: Every screen shown here is live — fully functional in the browser, not a wireframe.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Demo Flow</a:t>
            </a:r>
          </a:p>
        </p:txBody>
      </p:sp>
      <p:sp>
        <p:nvSpPr>
          <p:cNvPr id="3" name="Sub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Scenario: A tourist discovers, books, and pays a verified local guide</a:t>
            </a:r>
          </a:p>
        </p:txBody>
      </p:sp>
      <p:sp>
        <p:nvSpPr>
          <p:cNvPr id="4" name="Sep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5" name="H5"/>
          <p:cNvSpPr/>
          <p:nvPr/>
        </p:nvSpPr>
        <p:spPr>
          <a:xfrm>
            <a:off x="411480" y="1270000"/>
            <a:ext cx="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7F85"/>
                </a:solidFill>
                <a:latin typeface="Calibri" pitchFamily="34" charset="0"/>
              </a:rPr>
              <a:t>Step</a:t>
            </a:r>
          </a:p>
        </p:txBody>
      </p:sp>
      <p:sp>
        <p:nvSpPr>
          <p:cNvPr id="6" name="H6"/>
          <p:cNvSpPr/>
          <p:nvPr/>
        </p:nvSpPr>
        <p:spPr>
          <a:xfrm>
            <a:off x="2431480" y="127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7F85"/>
                </a:solidFill>
                <a:latin typeface="Calibri" pitchFamily="34" charset="0"/>
              </a:rPr>
              <a:t>Action</a:t>
            </a:r>
          </a:p>
        </p:txBody>
      </p:sp>
      <p:sp>
        <p:nvSpPr>
          <p:cNvPr id="7" name="H7"/>
          <p:cNvSpPr/>
          <p:nvPr/>
        </p:nvSpPr>
        <p:spPr>
          <a:xfrm>
            <a:off x="6051480" y="127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7F85"/>
                </a:solidFill>
                <a:latin typeface="Calibri" pitchFamily="34" charset="0"/>
              </a:rPr>
              <a:t>What to show</a:t>
            </a:r>
          </a:p>
        </p:txBody>
      </p:sp>
      <p:sp>
        <p:nvSpPr>
          <p:cNvPr id="8" name="H8"/>
          <p:cNvSpPr/>
          <p:nvPr/>
        </p:nvSpPr>
        <p:spPr>
          <a:xfrm>
            <a:off x="8171480" y="127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7F85"/>
                </a:solidFill>
                <a:latin typeface="Calibri" pitchFamily="34" charset="0"/>
              </a:rPr>
              <a:t>Time</a:t>
            </a:r>
          </a:p>
        </p:txBody>
      </p:sp>
      <p:sp>
        <p:nvSpPr>
          <p:cNvPr id="9" name="RowBg9"/>
          <p:cNvSpPr/>
          <p:nvPr/>
        </p:nvSpPr>
        <p:spPr>
          <a:xfrm>
            <a:off x="411480" y="1490000"/>
            <a:ext cx="8321040" cy="600000"/>
          </a:xfrm>
          <a:prstGeom prst="rect">
            <a:avLst/>
          </a:prstGeom>
          <a:solidFill>
            <a:srgbClr val="F0F9FA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0" name="C10"/>
          <p:cNvSpPr/>
          <p:nvPr/>
        </p:nvSpPr>
        <p:spPr>
          <a:xfrm>
            <a:off x="441480" y="1520000"/>
            <a:ext cx="19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85"/>
                </a:solidFill>
                <a:latin typeface="Calibri" pitchFamily="34" charset="0"/>
              </a:rPr>
              <a:t>Step 1</a:t>
            </a:r>
          </a:p>
        </p:txBody>
      </p:sp>
      <p:sp>
        <p:nvSpPr>
          <p:cNvPr id="11" name="C11"/>
          <p:cNvSpPr/>
          <p:nvPr/>
        </p:nvSpPr>
        <p:spPr>
          <a:xfrm>
            <a:off x="2461480" y="1520000"/>
            <a:ext cx="3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Tourist searches for a guide</a:t>
            </a:r>
          </a:p>
        </p:txBody>
      </p:sp>
      <p:sp>
        <p:nvSpPr>
          <p:cNvPr id="12" name="C12"/>
          <p:cNvSpPr/>
          <p:nvPr/>
        </p:nvSpPr>
        <p:spPr>
          <a:xfrm>
            <a:off x="6081480" y="1520000"/>
            <a:ext cx="20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</a:rPr>
              <a:t>Open homepage → select Province/City/Category → click Search</a:t>
            </a:r>
          </a:p>
        </p:txBody>
      </p:sp>
      <p:sp>
        <p:nvSpPr>
          <p:cNvPr id="13" name="C13"/>
          <p:cNvSpPr/>
          <p:nvPr/>
        </p:nvSpPr>
        <p:spPr>
          <a:xfrm>
            <a:off x="8201480" y="1520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</a:rPr>
              <a:t>~30s</a:t>
            </a:r>
          </a:p>
        </p:txBody>
      </p:sp>
      <p:sp>
        <p:nvSpPr>
          <p:cNvPr id="14" name="RowBg14"/>
          <p:cNvSpPr/>
          <p:nvPr/>
        </p:nvSpPr>
        <p:spPr>
          <a:xfrm>
            <a:off x="411480" y="2110000"/>
            <a:ext cx="832104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5" name="C15"/>
          <p:cNvSpPr/>
          <p:nvPr/>
        </p:nvSpPr>
        <p:spPr>
          <a:xfrm>
            <a:off x="441480" y="2140000"/>
            <a:ext cx="19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85"/>
                </a:solidFill>
                <a:latin typeface="Calibri" pitchFamily="34" charset="0"/>
              </a:rPr>
              <a:t>Step 2</a:t>
            </a:r>
          </a:p>
        </p:txBody>
      </p:sp>
      <p:sp>
        <p:nvSpPr>
          <p:cNvPr id="16" name="C16"/>
          <p:cNvSpPr/>
          <p:nvPr/>
        </p:nvSpPr>
        <p:spPr>
          <a:xfrm>
            <a:off x="2461480" y="2140000"/>
            <a:ext cx="3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Tourist views guide profile &amp; selects tour</a:t>
            </a:r>
          </a:p>
        </p:txBody>
      </p:sp>
      <p:sp>
        <p:nvSpPr>
          <p:cNvPr id="17" name="C17"/>
          <p:cNvSpPr/>
          <p:nvPr/>
        </p:nvSpPr>
        <p:spPr>
          <a:xfrm>
            <a:off x="6081480" y="2140000"/>
            <a:ext cx="20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</a:rPr>
              <a:t>Click guide card → view tours, price, availability → click Book</a:t>
            </a:r>
          </a:p>
        </p:txBody>
      </p:sp>
      <p:sp>
        <p:nvSpPr>
          <p:cNvPr id="18" name="C18"/>
          <p:cNvSpPr/>
          <p:nvPr/>
        </p:nvSpPr>
        <p:spPr>
          <a:xfrm>
            <a:off x="8201480" y="2140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</a:rPr>
              <a:t>~30s</a:t>
            </a:r>
          </a:p>
        </p:txBody>
      </p:sp>
      <p:sp>
        <p:nvSpPr>
          <p:cNvPr id="19" name="RowBg19"/>
          <p:cNvSpPr/>
          <p:nvPr/>
        </p:nvSpPr>
        <p:spPr>
          <a:xfrm>
            <a:off x="411480" y="2730000"/>
            <a:ext cx="8321040" cy="600000"/>
          </a:xfrm>
          <a:prstGeom prst="rect">
            <a:avLst/>
          </a:prstGeom>
          <a:solidFill>
            <a:srgbClr val="F0F9FA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0" name="C20"/>
          <p:cNvSpPr/>
          <p:nvPr/>
        </p:nvSpPr>
        <p:spPr>
          <a:xfrm>
            <a:off x="441480" y="2760000"/>
            <a:ext cx="19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85"/>
                </a:solidFill>
                <a:latin typeface="Calibri" pitchFamily="34" charset="0"/>
              </a:rPr>
              <a:t>Step 3</a:t>
            </a:r>
          </a:p>
        </p:txBody>
      </p:sp>
      <p:sp>
        <p:nvSpPr>
          <p:cNvPr id="21" name="C21"/>
          <p:cNvSpPr/>
          <p:nvPr/>
        </p:nvSpPr>
        <p:spPr>
          <a:xfrm>
            <a:off x="2461480" y="2760000"/>
            <a:ext cx="3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Tourist submits booking request</a:t>
            </a:r>
          </a:p>
        </p:txBody>
      </p:sp>
      <p:sp>
        <p:nvSpPr>
          <p:cNvPr id="22" name="C22"/>
          <p:cNvSpPr/>
          <p:nvPr/>
        </p:nvSpPr>
        <p:spPr>
          <a:xfrm>
            <a:off x="6081480" y="2760000"/>
            <a:ext cx="20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</a:rPr>
              <a:t>Select date/time/people → confirm → "Booking request submitted" toast</a:t>
            </a:r>
          </a:p>
        </p:txBody>
      </p:sp>
      <p:sp>
        <p:nvSpPr>
          <p:cNvPr id="23" name="C23"/>
          <p:cNvSpPr/>
          <p:nvPr/>
        </p:nvSpPr>
        <p:spPr>
          <a:xfrm>
            <a:off x="8201480" y="2760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</a:rPr>
              <a:t>~20s</a:t>
            </a:r>
          </a:p>
        </p:txBody>
      </p:sp>
      <p:sp>
        <p:nvSpPr>
          <p:cNvPr id="24" name="RowBg24"/>
          <p:cNvSpPr/>
          <p:nvPr/>
        </p:nvSpPr>
        <p:spPr>
          <a:xfrm>
            <a:off x="411480" y="3350000"/>
            <a:ext cx="832104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5" name="C25"/>
          <p:cNvSpPr/>
          <p:nvPr/>
        </p:nvSpPr>
        <p:spPr>
          <a:xfrm>
            <a:off x="441480" y="3380000"/>
            <a:ext cx="19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85"/>
                </a:solidFill>
                <a:latin typeface="Calibri" pitchFamily="34" charset="0"/>
              </a:rPr>
              <a:t>Step 4</a:t>
            </a:r>
          </a:p>
        </p:txBody>
      </p:sp>
      <p:sp>
        <p:nvSpPr>
          <p:cNvPr id="26" name="C26"/>
          <p:cNvSpPr/>
          <p:nvPr/>
        </p:nvSpPr>
        <p:spPr>
          <a:xfrm>
            <a:off x="2461480" y="3380000"/>
            <a:ext cx="3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Guide accepts booking &amp; tourist pays</a:t>
            </a:r>
          </a:p>
        </p:txBody>
      </p:sp>
      <p:sp>
        <p:nvSpPr>
          <p:cNvPr id="27" name="C27"/>
          <p:cNvSpPr/>
          <p:nvPr/>
        </p:nvSpPr>
        <p:spPr>
          <a:xfrm>
            <a:off x="6081480" y="3380000"/>
            <a:ext cx="20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</a:rPr>
              <a:t>Guide dashboard → Accept → Tourist My Bookings → Pay → payment confirmed</a:t>
            </a:r>
          </a:p>
        </p:txBody>
      </p:sp>
      <p:sp>
        <p:nvSpPr>
          <p:cNvPr id="28" name="C28"/>
          <p:cNvSpPr/>
          <p:nvPr/>
        </p:nvSpPr>
        <p:spPr>
          <a:xfrm>
            <a:off x="8201480" y="3380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</a:rPr>
              <a:t>~40s</a:t>
            </a:r>
          </a:p>
        </p:txBody>
      </p:sp>
      <p:sp>
        <p:nvSpPr>
          <p:cNvPr id="29" name="RowBg29"/>
          <p:cNvSpPr/>
          <p:nvPr/>
        </p:nvSpPr>
        <p:spPr>
          <a:xfrm>
            <a:off x="411480" y="3970000"/>
            <a:ext cx="8321040" cy="600000"/>
          </a:xfrm>
          <a:prstGeom prst="rect">
            <a:avLst/>
          </a:prstGeom>
          <a:solidFill>
            <a:srgbClr val="F0F9FA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30" name="C30"/>
          <p:cNvSpPr/>
          <p:nvPr/>
        </p:nvSpPr>
        <p:spPr>
          <a:xfrm>
            <a:off x="441480" y="4000000"/>
            <a:ext cx="19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85"/>
                </a:solidFill>
                <a:latin typeface="Calibri" pitchFamily="34" charset="0"/>
              </a:rPr>
              <a:t>Step 5</a:t>
            </a:r>
          </a:p>
        </p:txBody>
      </p:sp>
      <p:sp>
        <p:nvSpPr>
          <p:cNvPr id="31" name="C31"/>
          <p:cNvSpPr/>
          <p:nvPr/>
        </p:nvSpPr>
        <p:spPr>
          <a:xfrm>
            <a:off x="2461480" y="4000000"/>
            <a:ext cx="3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Booking confirmed — status machine fires</a:t>
            </a:r>
          </a:p>
        </p:txBody>
      </p:sp>
      <p:sp>
        <p:nvSpPr>
          <p:cNvPr id="32" name="C32"/>
          <p:cNvSpPr/>
          <p:nvPr/>
        </p:nvSpPr>
        <p:spPr>
          <a:xfrm>
            <a:off x="6081480" y="4000000"/>
            <a:ext cx="20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</a:rPr>
              <a:t>Status: PENDING → CONFIRMED → Payment Intent ID visible on booking detail</a:t>
            </a:r>
          </a:p>
        </p:txBody>
      </p:sp>
      <p:sp>
        <p:nvSpPr>
          <p:cNvPr id="33" name="C33"/>
          <p:cNvSpPr/>
          <p:nvPr/>
        </p:nvSpPr>
        <p:spPr>
          <a:xfrm>
            <a:off x="8201480" y="4000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</a:rPr>
              <a:t>~15s</a:t>
            </a:r>
          </a:p>
        </p:txBody>
      </p:sp>
      <p:sp>
        <p:nvSpPr>
          <p:cNvPr id="34" name="TK"/>
          <p:cNvSpPr/>
          <p:nvPr/>
        </p:nvSpPr>
        <p:spPr>
          <a:xfrm>
            <a:off x="411480" y="4760000"/>
            <a:ext cx="8321040" cy="30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Total demo time ~2.5 minutes. All 5 steps run on localhost — no external dependencies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Booking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→ Payment Simulation → Guide Accept → Confirmed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554480" cy="1572768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987552" y="1353312"/>
            <a:ext cx="420624" cy="420624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32257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· category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filter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92024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12264" y="1261872"/>
            <a:ext cx="1554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2688336" y="1353312"/>
            <a:ext cx="420624" cy="420624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2688336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12264" y="1847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Guide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85416" y="232257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calendar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66744" y="192024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3048" y="1261872"/>
            <a:ext cx="1554480" cy="1572768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389120" y="1353312"/>
            <a:ext cx="420624" cy="420624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38912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13048" y="1847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86200" y="232257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webhook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67528" y="192024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13832" y="1261872"/>
            <a:ext cx="1554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6089904" y="1353312"/>
            <a:ext cx="420624" cy="420624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089904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13832" y="1847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86984" y="232257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68312" y="192024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14616" y="1261872"/>
            <a:ext cx="1554480" cy="1572768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7790688" y="1353312"/>
            <a:ext cx="420624" cy="420624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790688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14616" y="1847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87768" y="232257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submits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0175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Status Machine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1480" y="3401568"/>
            <a:ext cx="1554480" cy="365760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411480" y="3401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65960" y="345643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112264" y="3401568"/>
            <a:ext cx="1554480" cy="365760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2112264" y="3401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66744" y="345643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813048" y="3401568"/>
            <a:ext cx="1554480" cy="365760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3813048" y="3401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67528" y="345643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513832" y="3401568"/>
            <a:ext cx="1554480" cy="365760"/>
          </a:xfrm>
          <a:prstGeom prst="rect">
            <a:avLst/>
          </a:prstGeom>
          <a:solidFill>
            <a:srgbClr val="E8F4F5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5513832" y="3401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68312" y="3456432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214616" y="3401568"/>
            <a:ext cx="1554480" cy="365760"/>
          </a:xfrm>
          <a:prstGeom prst="rect">
            <a:avLst/>
          </a:prstGeom>
          <a:solidFill>
            <a:srgbClr val="E8F4F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7214616" y="3401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" y="389534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Choices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11480" y="4195333"/>
            <a:ext cx="201168" cy="201168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694944" y="4177045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 auth · role-based guards on all endpoints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11480" y="4433077"/>
            <a:ext cx="201168" cy="201168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51"/>
          <p:cNvSpPr/>
          <p:nvPr/>
        </p:nvSpPr>
        <p:spPr>
          <a:xfrm>
            <a:off x="694944" y="4414789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layered separation: Controller → Service → Repository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11480" y="4670821"/>
            <a:ext cx="201168" cy="201168"/>
          </a:xfrm>
          <a:prstGeom prst="line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694944" y="4652533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PaymentGatewayPort: stub now, Stripe SDK in Phase 2</a:t>
            </a:r>
            <a:endParaRPr lang="en-US" sz="1200" dirty="0"/>
          </a:p>
        </p:txBody>
      </p:sp>
      <p:pic>
        <p:nvPicPr>
          <p:cNvPr id="56" name="payment_page" descr="Payment Pag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000" y="4047229"/>
            <a:ext cx="2400000" cy="89904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57" name="booking_confirmed" descr="Booking Confirmed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000" y="3957589"/>
            <a:ext cx="1800000" cy="107832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58" name="Takeaway"/>
          <p:cNvSpPr/>
          <p:nvPr/>
        </p:nvSpPr>
        <p:spPr>
          <a:xfrm>
            <a:off x="304364" y="4845814"/>
            <a:ext cx="8787384" cy="28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Key Takeaway: A tourist can go from search to confirmed booking in under 3 steps</a:t>
            </a:r>
            <a:r>
              <a:rPr lang="zh-CN" altLang="en-US" sz="1300" b="1" dirty="0">
                <a:solidFill>
                  <a:srgbClr val="2A7F85"/>
                </a:solidFill>
                <a:latin typeface="Calibri" pitchFamily="34" charset="0"/>
              </a:rPr>
              <a:t>，</a:t>
            </a: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payment layer is already Stripe-ready.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end-to-end testing in local/dev environment · 29/29 test cases passed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920240" cy="914400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261872"/>
            <a:ext cx="1920240" cy="914400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514600" y="13167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14600" y="1810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Tests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261872"/>
            <a:ext cx="1920240" cy="914400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617720" y="13167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17720" y="1810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Tests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0840" y="1261872"/>
            <a:ext cx="1920240" cy="914400"/>
          </a:xfrm>
          <a:prstGeom prst="rect">
            <a:avLst/>
          </a:prstGeom>
          <a:solidFill>
            <a:srgbClr val="E8F4F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720840" y="13167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20840" y="1810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 Classes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359152"/>
            <a:ext cx="3474720" cy="384048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21208" y="235915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Scenario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86200" y="2359152"/>
            <a:ext cx="822960" cy="384048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995928" y="235915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2359152"/>
            <a:ext cx="4023360" cy="384048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818888" y="235915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Verification Note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2743200"/>
            <a:ext cx="34747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39496" y="2743200"/>
            <a:ext cx="3346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Register / Login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886200" y="2743200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014216" y="274320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743200"/>
            <a:ext cx="40233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837176" y="2743200"/>
            <a:ext cx="3895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 · TOURIST role assigned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040380"/>
            <a:ext cx="347472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539496" y="3040380"/>
            <a:ext cx="3346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Search (city + category)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86200" y="3040380"/>
            <a:ext cx="82296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4014216" y="30403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040380"/>
            <a:ext cx="402336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837176" y="3040380"/>
            <a:ext cx="3895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filtered, paginated correctly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337560"/>
            <a:ext cx="34747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39496" y="3337560"/>
            <a:ext cx="3346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Payment Stub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886200" y="3337560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4014216" y="33375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337560"/>
            <a:ext cx="40233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4837176" y="3337560"/>
            <a:ext cx="3895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fires · status → CONFIRMED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3634740"/>
            <a:ext cx="347472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539496" y="3634740"/>
            <a:ext cx="3346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Accept / Decline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886200" y="3634740"/>
            <a:ext cx="82296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4014216" y="363474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3634740"/>
            <a:ext cx="402336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4837176" y="3634740"/>
            <a:ext cx="3895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status transitions validated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3931920"/>
            <a:ext cx="34747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539496" y="3931920"/>
            <a:ext cx="3346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 / Reject Guide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886200" y="3931920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4014216" y="39319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3931920"/>
            <a:ext cx="40233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4837176" y="3931920"/>
            <a:ext cx="3895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verificationStatus field updated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4229100"/>
            <a:ext cx="347472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539496" y="4229100"/>
            <a:ext cx="3346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Webhook Payload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886200" y="4229100"/>
            <a:ext cx="82296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4014216" y="422910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4229100"/>
            <a:ext cx="4023360" cy="283464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4837176" y="4229100"/>
            <a:ext cx="3895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error · no state mutation</a:t>
            </a:r>
            <a:endParaRPr lang="en-US" sz="1100" dirty="0"/>
          </a:p>
        </p:txBody>
      </p:sp>
      <p:sp>
        <p:nvSpPr>
          <p:cNvPr id="71" name="Takeaway"/>
          <p:cNvSpPr/>
          <p:nvPr/>
        </p:nvSpPr>
        <p:spPr>
          <a:xfrm>
            <a:off x="411480" y="4580000"/>
            <a:ext cx="8321040" cy="30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Key Takeaway: 29/29 passed in local dev. Scope: full user journey from registration to post-tour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Security NFRs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local dev test environment — production performance may vary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023360" cy="40233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21208" y="126187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Performance KPIs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1828800" cy="32918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21208" y="166420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Metric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664208"/>
            <a:ext cx="914400" cy="32918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350008" y="166420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0" y="1664208"/>
            <a:ext cx="1280160" cy="32918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264408" y="16642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Achieved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99339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39496" y="199339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1993392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2368296" y="1993392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1993392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282696" y="1993392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~1.2s ✓ (local dev)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468880"/>
            <a:ext cx="182880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39496" y="246888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Response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40280" y="2468880"/>
            <a:ext cx="91440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2368296" y="246888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2468880"/>
            <a:ext cx="128016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282696" y="2468880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~300ms ✓ (local dev)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294436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39496" y="294436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40280" y="2944368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2368296" y="294436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4680" y="2944368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3282696" y="2944368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~1.8s ✓ (local dev)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3419856"/>
            <a:ext cx="182880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539496" y="341985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40280" y="3419856"/>
            <a:ext cx="91440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2368296" y="341985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98%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154680" y="3419856"/>
            <a:ext cx="1280160" cy="438912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3282696" y="3419856"/>
            <a:ext cx="1152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✓ (dev stub)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1261872"/>
            <a:ext cx="3977640" cy="40233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4864608" y="1261872"/>
            <a:ext cx="3867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Security &amp; Reliability NFRs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1664208"/>
            <a:ext cx="1920240" cy="32918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4864608" y="166420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NFR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75120" y="1664208"/>
            <a:ext cx="2057400" cy="329184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6784848" y="1664208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754880" y="1993392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4882896" y="19933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675120" y="1993392"/>
            <a:ext cx="2057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6803136" y="199339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754880" y="2322576"/>
            <a:ext cx="1920240" cy="310896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4882896" y="232257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675120" y="2322576"/>
            <a:ext cx="2057400" cy="310896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6803136" y="232257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expiry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754880" y="2651760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4882896" y="265176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675120" y="2651760"/>
            <a:ext cx="2057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6803136" y="265176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754880" y="2980944"/>
            <a:ext cx="1920240" cy="310896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4882896" y="29809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675120" y="2980944"/>
            <a:ext cx="2057400" cy="310896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6803136" y="298094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99.5%/month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754880" y="3310128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4882896" y="331012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675120" y="3310128"/>
            <a:ext cx="2057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6803136" y="331012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minutes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754880" y="3639312"/>
            <a:ext cx="1920240" cy="310896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4882896" y="363931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675120" y="3639312"/>
            <a:ext cx="2057400" cy="310896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Text 64"/>
          <p:cNvSpPr/>
          <p:nvPr/>
        </p:nvSpPr>
        <p:spPr>
          <a:xfrm>
            <a:off x="6803136" y="363931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754880" y="3968496"/>
            <a:ext cx="1920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4882896" y="396849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compliance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675120" y="3968496"/>
            <a:ext cx="2057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0" name="Text 68"/>
          <p:cNvSpPr/>
          <p:nvPr/>
        </p:nvSpPr>
        <p:spPr>
          <a:xfrm>
            <a:off x="6803136" y="3968496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privacy standard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4754880" y="4297680"/>
            <a:ext cx="1920240" cy="310896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2" name="Text 70"/>
          <p:cNvSpPr/>
          <p:nvPr/>
        </p:nvSpPr>
        <p:spPr>
          <a:xfrm>
            <a:off x="4882896" y="42976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675120" y="4297680"/>
            <a:ext cx="2057400" cy="310896"/>
          </a:xfrm>
          <a:prstGeom prst="rect">
            <a:avLst/>
          </a:prstGeom>
          <a:solidFill>
            <a:srgbClr val="F7FA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4" name="Text 72"/>
          <p:cNvSpPr/>
          <p:nvPr/>
        </p:nvSpPr>
        <p:spPr>
          <a:xfrm>
            <a:off x="6803136" y="429768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enforced</a:t>
            </a:r>
            <a:endParaRPr lang="en-US" sz="1150" dirty="0"/>
          </a:p>
        </p:txBody>
      </p:sp>
      <p:sp>
        <p:nvSpPr>
          <p:cNvPr id="75" name="Takeaway"/>
          <p:cNvSpPr/>
          <p:nvPr/>
        </p:nvSpPr>
        <p:spPr>
          <a:xfrm>
            <a:off x="411479" y="4621088"/>
            <a:ext cx="8536577" cy="438912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Key Takeaway: All targets met in local dev test environment. Page ~1.2s, search ~300ms, payment ~1.8s. Payment stub: 100% success.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Security &amp; Reliability NFRs</a:t>
            </a:r>
          </a:p>
        </p:txBody>
      </p:sp>
      <p:sp>
        <p:nvSpPr>
          <p:cNvPr id="3" name="Sub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Security hardened from day one · Canadian privacy compliance · Reliability targets defined</a:t>
            </a:r>
          </a:p>
        </p:txBody>
      </p:sp>
      <p:sp>
        <p:nvSpPr>
          <p:cNvPr id="4" name="Sep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5" name="CB5"/>
          <p:cNvSpPr/>
          <p:nvPr/>
        </p:nvSpPr>
        <p:spPr>
          <a:xfrm>
            <a:off x="411480" y="1270000"/>
            <a:ext cx="2707013" cy="1380000"/>
          </a:xfrm>
          <a:prstGeom prst="rect">
            <a:avLst/>
          </a:prstGeom>
          <a:solidFill>
            <a:srgbClr val="F0F9FA"/>
          </a:solidFill>
          <a:ln w="1905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6" name="CT5"/>
          <p:cNvSpPr/>
          <p:nvPr/>
        </p:nvSpPr>
        <p:spPr>
          <a:xfrm>
            <a:off x="481480" y="1340000"/>
            <a:ext cx="2567013" cy="1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A7F85"/>
                </a:solidFill>
                <a:latin typeface="Calibri" pitchFamily="34" charset="0"/>
              </a:rPr>
              <a:t>AUTH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BCrypt Passwords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Industry-standard hashing — no plain-text passwords ever stored or transmitted.</a:t>
            </a:r>
          </a:p>
        </p:txBody>
      </p:sp>
      <p:sp>
        <p:nvSpPr>
          <p:cNvPr id="7" name="CB7"/>
          <p:cNvSpPr/>
          <p:nvPr/>
        </p:nvSpPr>
        <p:spPr>
          <a:xfrm>
            <a:off x="3218493" y="1270000"/>
            <a:ext cx="2707013" cy="1380000"/>
          </a:xfrm>
          <a:prstGeom prst="rect">
            <a:avLst/>
          </a:prstGeom>
          <a:solidFill>
            <a:srgbClr val="F0F9FA"/>
          </a:solidFill>
          <a:ln w="1905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8" name="CT7"/>
          <p:cNvSpPr/>
          <p:nvPr/>
        </p:nvSpPr>
        <p:spPr>
          <a:xfrm>
            <a:off x="3288493" y="1340000"/>
            <a:ext cx="2567013" cy="1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A7F85"/>
                </a:solidFill>
                <a:latin typeface="Calibri" pitchFamily="34" charset="0"/>
              </a:rPr>
              <a:t>AUTH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JWT Token Lifecycle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Access: 1h expiry. Refresh: 30 days. Short-lived access minimises breach window.</a:t>
            </a:r>
          </a:p>
        </p:txBody>
      </p:sp>
      <p:sp>
        <p:nvSpPr>
          <p:cNvPr id="9" name="CB9"/>
          <p:cNvSpPr/>
          <p:nvPr/>
        </p:nvSpPr>
        <p:spPr>
          <a:xfrm>
            <a:off x="6025506" y="1270000"/>
            <a:ext cx="2707013" cy="1380000"/>
          </a:xfrm>
          <a:prstGeom prst="rect">
            <a:avLst/>
          </a:prstGeom>
          <a:solidFill>
            <a:srgbClr val="F0F9FA"/>
          </a:solidFill>
          <a:ln w="1905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0" name="CT9"/>
          <p:cNvSpPr/>
          <p:nvPr/>
        </p:nvSpPr>
        <p:spPr>
          <a:xfrm>
            <a:off x="6095506" y="1340000"/>
            <a:ext cx="2567013" cy="1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A7F85"/>
                </a:solidFill>
                <a:latin typeface="Calibri" pitchFamily="34" charset="0"/>
              </a:rPr>
              <a:t>COMPLIANCE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PIPEDA (Canada)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Privacy by design. Minimal data collection. User consent enforced at registration.</a:t>
            </a:r>
          </a:p>
        </p:txBody>
      </p:sp>
      <p:sp>
        <p:nvSpPr>
          <p:cNvPr id="11" name="CB11"/>
          <p:cNvSpPr/>
          <p:nvPr/>
        </p:nvSpPr>
        <p:spPr>
          <a:xfrm>
            <a:off x="411480" y="2750000"/>
            <a:ext cx="2707013" cy="1380000"/>
          </a:xfrm>
          <a:prstGeom prst="rect">
            <a:avLst/>
          </a:prstGeom>
          <a:solidFill>
            <a:srgbClr val="F0F9FA"/>
          </a:solidFill>
          <a:ln w="1905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2" name="CT11"/>
          <p:cNvSpPr/>
          <p:nvPr/>
        </p:nvSpPr>
        <p:spPr>
          <a:xfrm>
            <a:off x="481480" y="2820000"/>
            <a:ext cx="2567013" cy="1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A7F85"/>
                </a:solidFill>
                <a:latin typeface="Calibri" pitchFamily="34" charset="0"/>
              </a:rPr>
              <a:t>AVAILABILITY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99.5% Uptime SLA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Monthly uptime target. AWS EC2 deployment with defined restart procedures.</a:t>
            </a:r>
          </a:p>
        </p:txBody>
      </p:sp>
      <p:sp>
        <p:nvSpPr>
          <p:cNvPr id="13" name="CB13"/>
          <p:cNvSpPr/>
          <p:nvPr/>
        </p:nvSpPr>
        <p:spPr>
          <a:xfrm>
            <a:off x="3218493" y="2750000"/>
            <a:ext cx="2707013" cy="1380000"/>
          </a:xfrm>
          <a:prstGeom prst="rect">
            <a:avLst/>
          </a:prstGeom>
          <a:solidFill>
            <a:srgbClr val="F0F9FA"/>
          </a:solidFill>
          <a:ln w="1905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4" name="CT13"/>
          <p:cNvSpPr/>
          <p:nvPr/>
        </p:nvSpPr>
        <p:spPr>
          <a:xfrm>
            <a:off x="3288493" y="2820000"/>
            <a:ext cx="2567013" cy="1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A7F85"/>
                </a:solidFill>
                <a:latin typeface="Calibri" pitchFamily="34" charset="0"/>
              </a:rPr>
              <a:t>RELIABILITY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MTTR &lt; 30 min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Mean time to recovery target. CI pipeline catches regressions before production.</a:t>
            </a:r>
          </a:p>
        </p:txBody>
      </p:sp>
      <p:sp>
        <p:nvSpPr>
          <p:cNvPr id="15" name="CB15"/>
          <p:cNvSpPr/>
          <p:nvPr/>
        </p:nvSpPr>
        <p:spPr>
          <a:xfrm>
            <a:off x="6025506" y="2750000"/>
            <a:ext cx="2707013" cy="1380000"/>
          </a:xfrm>
          <a:prstGeom prst="rect">
            <a:avLst/>
          </a:prstGeom>
          <a:solidFill>
            <a:srgbClr val="F0F9FA"/>
          </a:solidFill>
          <a:ln w="19050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6" name="CT15"/>
          <p:cNvSpPr/>
          <p:nvPr/>
        </p:nvSpPr>
        <p:spPr>
          <a:xfrm>
            <a:off x="6095506" y="2820000"/>
            <a:ext cx="2567013" cy="1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A7F85"/>
                </a:solidFill>
                <a:latin typeface="Calibri" pitchFamily="34" charset="0"/>
              </a:rPr>
              <a:t>ACCESS CONTROL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Role-Based Guards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Tourist / Guide / Admin roles enforced on every single API endpoint.</a:t>
            </a:r>
          </a:p>
        </p:txBody>
      </p:sp>
      <p:sp>
        <p:nvSpPr>
          <p:cNvPr id="17" name="Takeaway"/>
          <p:cNvSpPr/>
          <p:nvPr/>
        </p:nvSpPr>
        <p:spPr>
          <a:xfrm>
            <a:off x="411480" y="4610000"/>
            <a:ext cx="8595360" cy="30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Key Takeaway: Security is not an afterthought — auth, access control, and PIPEDA compliance are built in from day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Deployment &amp; Next Steps</a:t>
            </a:r>
          </a:p>
        </p:txBody>
      </p:sp>
      <p:sp>
        <p:nvSpPr>
          <p:cNvPr id="3" name="Sub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Current deployment state · Phase 2 backlog · Production roadmap</a:t>
            </a:r>
          </a:p>
        </p:txBody>
      </p:sp>
      <p:sp>
        <p:nvSpPr>
          <p:cNvPr id="4" name="Sep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5" name="NowHdr"/>
          <p:cNvSpPr/>
          <p:nvPr/>
        </p:nvSpPr>
        <p:spPr>
          <a:xfrm>
            <a:off x="411480" y="1270000"/>
            <a:ext cx="4160000" cy="220000"/>
          </a:xfrm>
          <a:prstGeom prst="rect">
            <a:avLst/>
          </a:prstGeom>
          <a:solidFill>
            <a:srgbClr val="2A7F85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💻  Current State (Local Dev)</a:t>
            </a:r>
          </a:p>
        </p:txBody>
      </p:sp>
      <p:sp>
        <p:nvSpPr>
          <p:cNvPr id="6" name="Phase2Hdr"/>
          <p:cNvSpPr/>
          <p:nvPr/>
        </p:nvSpPr>
        <p:spPr>
          <a:xfrm>
            <a:off x="4786480" y="1270000"/>
            <a:ext cx="4160000" cy="220000"/>
          </a:xfrm>
          <a:prstGeom prst="rect">
            <a:avLst/>
          </a:prstGeom>
          <a:solidFill>
            <a:srgbClr val="DD6B2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🚀  Phase 2 — Production Deployment</a:t>
            </a:r>
          </a:p>
        </p:txBody>
      </p:sp>
      <p:sp>
        <p:nvSpPr>
          <p:cNvPr id="7" name="CI7"/>
          <p:cNvSpPr/>
          <p:nvPr/>
        </p:nvSpPr>
        <p:spPr>
          <a:xfrm>
            <a:off x="411480" y="1510000"/>
            <a:ext cx="4160000" cy="490000"/>
          </a:xfrm>
          <a:prstGeom prst="rect">
            <a:avLst/>
          </a:prstGeom>
          <a:solidFill>
            <a:srgbClr val="F0F9FA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8" name="CIT7"/>
          <p:cNvSpPr/>
          <p:nvPr/>
        </p:nvSpPr>
        <p:spPr>
          <a:xfrm>
            <a:off x="481480" y="1540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Spring Boot on localhost:8080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H2 in-memory DB — resets on restart</a:t>
            </a:r>
          </a:p>
        </p:txBody>
      </p:sp>
      <p:sp>
        <p:nvSpPr>
          <p:cNvPr id="9" name="CI9"/>
          <p:cNvSpPr/>
          <p:nvPr/>
        </p:nvSpPr>
        <p:spPr>
          <a:xfrm>
            <a:off x="411480" y="2018000"/>
            <a:ext cx="4160000" cy="490000"/>
          </a:xfrm>
          <a:prstGeom prst="rect">
            <a:avLst/>
          </a:prstGeom>
          <a:solidFill>
            <a:srgbClr val="F0F9FA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0" name="CIT9"/>
          <p:cNvSpPr/>
          <p:nvPr/>
        </p:nvSpPr>
        <p:spPr>
          <a:xfrm>
            <a:off x="481480" y="2048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Vue.js frontend on localhost:5173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Axios/JWT auth — all API calls work</a:t>
            </a:r>
          </a:p>
        </p:txBody>
      </p:sp>
      <p:sp>
        <p:nvSpPr>
          <p:cNvPr id="11" name="CI11"/>
          <p:cNvSpPr/>
          <p:nvPr/>
        </p:nvSpPr>
        <p:spPr>
          <a:xfrm>
            <a:off x="411480" y="2526000"/>
            <a:ext cx="4160000" cy="490000"/>
          </a:xfrm>
          <a:prstGeom prst="rect">
            <a:avLst/>
          </a:prstGeom>
          <a:solidFill>
            <a:srgbClr val="F0F9FA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2" name="CIT11"/>
          <p:cNvSpPr/>
          <p:nvPr/>
        </p:nvSpPr>
        <p:spPr>
          <a:xfrm>
            <a:off x="481480" y="2556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GitHub Actions CI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Build + test runs on every push to main</a:t>
            </a:r>
          </a:p>
        </p:txBody>
      </p:sp>
      <p:sp>
        <p:nvSpPr>
          <p:cNvPr id="13" name="CI13"/>
          <p:cNvSpPr/>
          <p:nvPr/>
        </p:nvSpPr>
        <p:spPr>
          <a:xfrm>
            <a:off x="411480" y="3034000"/>
            <a:ext cx="4160000" cy="490000"/>
          </a:xfrm>
          <a:prstGeom prst="rect">
            <a:avLst/>
          </a:prstGeom>
          <a:solidFill>
            <a:srgbClr val="F0F9FA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4" name="CIT13"/>
          <p:cNvSpPr/>
          <p:nvPr/>
        </p:nvSpPr>
        <p:spPr>
          <a:xfrm>
            <a:off x="481480" y="3064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PaymentGatewayPort stub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Simulates Stripe webhook — no real charges</a:t>
            </a:r>
          </a:p>
        </p:txBody>
      </p:sp>
      <p:sp>
        <p:nvSpPr>
          <p:cNvPr id="15" name="CI15"/>
          <p:cNvSpPr/>
          <p:nvPr/>
        </p:nvSpPr>
        <p:spPr>
          <a:xfrm>
            <a:off x="411480" y="3542000"/>
            <a:ext cx="4160000" cy="490000"/>
          </a:xfrm>
          <a:prstGeom prst="rect">
            <a:avLst/>
          </a:prstGeom>
          <a:solidFill>
            <a:srgbClr val="F0F9FA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6" name="CIT15"/>
          <p:cNvSpPr/>
          <p:nvPr/>
        </p:nvSpPr>
        <p:spPr>
          <a:xfrm>
            <a:off x="481480" y="3572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NotificationPort stub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Logs email events — no real delivery</a:t>
            </a:r>
          </a:p>
        </p:txBody>
      </p:sp>
      <p:sp>
        <p:nvSpPr>
          <p:cNvPr id="17" name="CI17"/>
          <p:cNvSpPr/>
          <p:nvPr/>
        </p:nvSpPr>
        <p:spPr>
          <a:xfrm>
            <a:off x="4786480" y="1510000"/>
            <a:ext cx="4160000" cy="490000"/>
          </a:xfrm>
          <a:prstGeom prst="rect">
            <a:avLst/>
          </a:prstGeom>
          <a:solidFill>
            <a:srgbClr val="FFF8F0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18" name="CIT17"/>
          <p:cNvSpPr/>
          <p:nvPr/>
        </p:nvSpPr>
        <p:spPr>
          <a:xfrm>
            <a:off x="4856480" y="1540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AWS EC2 deployment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Ubuntu server, Nginx reverse proxy, HTTPS</a:t>
            </a:r>
          </a:p>
        </p:txBody>
      </p:sp>
      <p:sp>
        <p:nvSpPr>
          <p:cNvPr id="19" name="CI19"/>
          <p:cNvSpPr/>
          <p:nvPr/>
        </p:nvSpPr>
        <p:spPr>
          <a:xfrm>
            <a:off x="4786480" y="2018000"/>
            <a:ext cx="4160000" cy="490000"/>
          </a:xfrm>
          <a:prstGeom prst="rect">
            <a:avLst/>
          </a:prstGeom>
          <a:solidFill>
            <a:srgbClr val="FFF8F0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0" name="CIT19"/>
          <p:cNvSpPr/>
          <p:nvPr/>
        </p:nvSpPr>
        <p:spPr>
          <a:xfrm>
            <a:off x="4856480" y="2048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MySQL 8.0 on RDS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Replace H2 — persistent production data</a:t>
            </a:r>
          </a:p>
        </p:txBody>
      </p:sp>
      <p:sp>
        <p:nvSpPr>
          <p:cNvPr id="21" name="CI21"/>
          <p:cNvSpPr/>
          <p:nvPr/>
        </p:nvSpPr>
        <p:spPr>
          <a:xfrm>
            <a:off x="4786480" y="2526000"/>
            <a:ext cx="4160000" cy="490000"/>
          </a:xfrm>
          <a:prstGeom prst="rect">
            <a:avLst/>
          </a:prstGeom>
          <a:solidFill>
            <a:srgbClr val="FFF8F0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2" name="CIT21"/>
          <p:cNvSpPr/>
          <p:nvPr/>
        </p:nvSpPr>
        <p:spPr>
          <a:xfrm>
            <a:off x="4856480" y="2556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Stripe SDK integration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Swap stub — real card processing live</a:t>
            </a:r>
          </a:p>
        </p:txBody>
      </p:sp>
      <p:sp>
        <p:nvSpPr>
          <p:cNvPr id="23" name="CI23"/>
          <p:cNvSpPr/>
          <p:nvPr/>
        </p:nvSpPr>
        <p:spPr>
          <a:xfrm>
            <a:off x="4786480" y="3034000"/>
            <a:ext cx="4160000" cy="490000"/>
          </a:xfrm>
          <a:prstGeom prst="rect">
            <a:avLst/>
          </a:prstGeom>
          <a:solidFill>
            <a:srgbClr val="FFF8F0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4" name="CIT23"/>
          <p:cNvSpPr/>
          <p:nvPr/>
        </p:nvSpPr>
        <p:spPr>
          <a:xfrm>
            <a:off x="4856480" y="3064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SendGrid email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Swap stub — booking confirmation emails</a:t>
            </a:r>
          </a:p>
        </p:txBody>
      </p:sp>
      <p:sp>
        <p:nvSpPr>
          <p:cNvPr id="25" name="CI25"/>
          <p:cNvSpPr/>
          <p:nvPr/>
        </p:nvSpPr>
        <p:spPr>
          <a:xfrm>
            <a:off x="4786480" y="3542000"/>
            <a:ext cx="4160000" cy="490000"/>
          </a:xfrm>
          <a:prstGeom prst="rect">
            <a:avLst/>
          </a:prstGeom>
          <a:solidFill>
            <a:srgbClr val="FFF8F0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6" name="CIT25"/>
          <p:cNvSpPr/>
          <p:nvPr/>
        </p:nvSpPr>
        <p:spPr>
          <a:xfrm>
            <a:off x="4856480" y="3572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Docker + CI/CD pipeline (planned)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Target state: auto-deploy on merge to main</a:t>
            </a:r>
          </a:p>
        </p:txBody>
      </p:sp>
      <p:sp>
        <p:nvSpPr>
          <p:cNvPr id="27" name="CI27"/>
          <p:cNvSpPr/>
          <p:nvPr/>
        </p:nvSpPr>
        <p:spPr>
          <a:xfrm>
            <a:off x="4786480" y="4050000"/>
            <a:ext cx="4160000" cy="490000"/>
          </a:xfrm>
          <a:prstGeom prst="rect">
            <a:avLst/>
          </a:prstGeom>
          <a:solidFill>
            <a:srgbClr val="FFF8F0"/>
          </a:solidFill>
          <a:ln w="9525">
            <a:solidFill>
              <a:srgbClr val="CBD5E0"/>
            </a:solidFill>
          </a:ln>
        </p:spPr>
        <p:txBody>
          <a:bodyPr/>
          <a:lstStyle/>
          <a:p>
            <a:endParaRPr lang="en-CA"/>
          </a:p>
        </p:txBody>
      </p:sp>
      <p:sp>
        <p:nvSpPr>
          <p:cNvPr id="28" name="CIT27"/>
          <p:cNvSpPr/>
          <p:nvPr/>
        </p:nvSpPr>
        <p:spPr>
          <a:xfrm>
            <a:off x="4856480" y="4080000"/>
            <a:ext cx="40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</a:rPr>
              <a:t>GPS map integration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Guide location display on search results</a:t>
            </a:r>
          </a:p>
        </p:txBody>
      </p:sp>
      <p:sp>
        <p:nvSpPr>
          <p:cNvPr id="29" name="TK"/>
          <p:cNvSpPr/>
          <p:nvPr/>
        </p:nvSpPr>
        <p:spPr>
          <a:xfrm>
            <a:off x="411479" y="4760000"/>
            <a:ext cx="8582297" cy="300000"/>
          </a:xfrm>
          <a:prstGeom prst="rect">
            <a:avLst/>
          </a:prstGeom>
          <a:solidFill>
            <a:srgbClr val="E8F4F5"/>
          </a:solidFill>
          <a:ln w="19050">
            <a:solidFill>
              <a:srgbClr val="2A7F85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85"/>
                </a:solidFill>
                <a:latin typeface="Calibri" pitchFamily="34" charset="0"/>
              </a:rPr>
              <a:t>✔  Key Takeaway: The system is deployment-ready — AWS EC2 target is defined. Phase 2 is a config change, not a rewrite.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Use Case Diagrams</a:t>
            </a:r>
          </a:p>
        </p:txBody>
      </p:sp>
      <p:sp>
        <p:nvSpPr>
          <p:cNvPr id="3" name="Subtitle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Tourist  ·  Guide  ·  Administrator</a:t>
            </a:r>
          </a:p>
        </p:txBody>
      </p:sp>
      <p:sp>
        <p:nvSpPr>
          <p:cNvPr id="4" name="Separator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Label_5"/>
          <p:cNvSpPr/>
          <p:nvPr/>
        </p:nvSpPr>
        <p:spPr>
          <a:xfrm>
            <a:off x="411480" y="1220000"/>
            <a:ext cx="27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Tourist</a:t>
            </a:r>
          </a:p>
        </p:txBody>
      </p:sp>
      <p:pic>
        <p:nvPicPr>
          <p:cNvPr id="6" name="uc_tour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0000"/>
            <a:ext cx="2700000" cy="141750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7" name="Label_7"/>
          <p:cNvSpPr/>
          <p:nvPr/>
        </p:nvSpPr>
        <p:spPr>
          <a:xfrm>
            <a:off x="3193480" y="1220000"/>
            <a:ext cx="27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Guide</a:t>
            </a:r>
          </a:p>
        </p:txBody>
      </p:sp>
      <p:pic>
        <p:nvPicPr>
          <p:cNvPr id="8" name="uc_gui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480" y="1400000"/>
            <a:ext cx="2700000" cy="194625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9" name="Label_9"/>
          <p:cNvSpPr/>
          <p:nvPr/>
        </p:nvSpPr>
        <p:spPr>
          <a:xfrm>
            <a:off x="5975480" y="1220000"/>
            <a:ext cx="27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Administrator</a:t>
            </a:r>
          </a:p>
        </p:txBody>
      </p:sp>
      <p:pic>
        <p:nvPicPr>
          <p:cNvPr id="10" name="uc_adm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480" y="1400000"/>
            <a:ext cx="2700000" cy="248625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Booking Flow — Live Screenshots</a:t>
            </a:r>
          </a:p>
        </p:txBody>
      </p:sp>
      <p:sp>
        <p:nvSpPr>
          <p:cNvPr id="3" name="Subtitle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My Bookings  →  Payment  →  Confirmed</a:t>
            </a:r>
          </a:p>
        </p:txBody>
      </p:sp>
      <p:sp>
        <p:nvSpPr>
          <p:cNvPr id="4" name="Separator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Label_5"/>
          <p:cNvSpPr/>
          <p:nvPr/>
        </p:nvSpPr>
        <p:spPr>
          <a:xfrm>
            <a:off x="411480" y="1220000"/>
            <a:ext cx="4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1  My Bookings (Pending Payment)</a:t>
            </a:r>
          </a:p>
        </p:txBody>
      </p:sp>
      <p:pic>
        <p:nvPicPr>
          <p:cNvPr id="6" name="my_book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0000"/>
            <a:ext cx="4000000" cy="909734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7" name="Label_7"/>
          <p:cNvSpPr/>
          <p:nvPr/>
        </p:nvSpPr>
        <p:spPr>
          <a:xfrm>
            <a:off x="4732520" y="1220000"/>
            <a:ext cx="4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2  Payment Page (Stripe Stub)</a:t>
            </a:r>
          </a:p>
        </p:txBody>
      </p:sp>
      <p:pic>
        <p:nvPicPr>
          <p:cNvPr id="8" name="payment_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520" y="1400000"/>
            <a:ext cx="4000000" cy="1498404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9" name="Label_9"/>
          <p:cNvSpPr/>
          <p:nvPr/>
        </p:nvSpPr>
        <p:spPr>
          <a:xfrm>
            <a:off x="411480" y="3048404"/>
            <a:ext cx="4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3  Payment Completed</a:t>
            </a:r>
          </a:p>
        </p:txBody>
      </p:sp>
      <p:pic>
        <p:nvPicPr>
          <p:cNvPr id="10" name="payment_comple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08404"/>
            <a:ext cx="4000000" cy="1928393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11" name="Label_11"/>
          <p:cNvSpPr/>
          <p:nvPr/>
        </p:nvSpPr>
        <p:spPr>
          <a:xfrm>
            <a:off x="4732520" y="3048404"/>
            <a:ext cx="4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4  Booking Confirmed</a:t>
            </a:r>
          </a:p>
        </p:txBody>
      </p:sp>
      <p:pic>
        <p:nvPicPr>
          <p:cNvPr id="12" name="booking_detai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520" y="3208404"/>
            <a:ext cx="4000000" cy="145500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Guide Portal</a:t>
            </a:r>
          </a:p>
        </p:txBody>
      </p:sp>
      <p:sp>
        <p:nvSpPr>
          <p:cNvPr id="3" name="Subtitle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Dashboard  ·  Verification  ·  Tour Management  ·  Availability</a:t>
            </a:r>
          </a:p>
        </p:txBody>
      </p:sp>
      <p:sp>
        <p:nvSpPr>
          <p:cNvPr id="4" name="Separator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Label_5"/>
          <p:cNvSpPr/>
          <p:nvPr/>
        </p:nvSpPr>
        <p:spPr>
          <a:xfrm>
            <a:off x="411480" y="1220000"/>
            <a:ext cx="4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Dashboard</a:t>
            </a:r>
          </a:p>
        </p:txBody>
      </p:sp>
      <p:pic>
        <p:nvPicPr>
          <p:cNvPr id="6" name="guide_da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0000"/>
            <a:ext cx="4000000" cy="150000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7" name="Label_7"/>
          <p:cNvSpPr/>
          <p:nvPr/>
        </p:nvSpPr>
        <p:spPr>
          <a:xfrm>
            <a:off x="4732520" y="1220000"/>
            <a:ext cx="4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Guide Verification Submission</a:t>
            </a:r>
          </a:p>
        </p:txBody>
      </p:sp>
      <p:pic>
        <p:nvPicPr>
          <p:cNvPr id="8" name="guide_ver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520" y="1400000"/>
            <a:ext cx="4000000" cy="142500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9" name="Label_9"/>
          <p:cNvSpPr/>
          <p:nvPr/>
        </p:nvSpPr>
        <p:spPr>
          <a:xfrm>
            <a:off x="411480" y="3050000"/>
            <a:ext cx="4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Tour Management</a:t>
            </a:r>
          </a:p>
        </p:txBody>
      </p:sp>
      <p:pic>
        <p:nvPicPr>
          <p:cNvPr id="10" name="tour_mgm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10000"/>
            <a:ext cx="4000000" cy="121500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11" name="Label_11"/>
          <p:cNvSpPr/>
          <p:nvPr/>
        </p:nvSpPr>
        <p:spPr>
          <a:xfrm>
            <a:off x="4732520" y="3050000"/>
            <a:ext cx="4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Availability Calendar</a:t>
            </a:r>
          </a:p>
        </p:txBody>
      </p:sp>
      <p:pic>
        <p:nvPicPr>
          <p:cNvPr id="12" name="avail_c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520" y="3210000"/>
            <a:ext cx="4000000" cy="1577500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F85"/>
                </a:solidFill>
                <a:latin typeface="Calibri" pitchFamily="34" charset="0"/>
              </a:rPr>
              <a:t>Admin Panel</a:t>
            </a:r>
          </a:p>
        </p:txBody>
      </p:sp>
      <p:sp>
        <p:nvSpPr>
          <p:cNvPr id="3" name="Subtitle"/>
          <p:cNvSpPr/>
          <p:nvPr/>
        </p:nvSpPr>
        <p:spPr>
          <a:xfrm>
            <a:off x="411480" y="822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User Management  ·  Account Suspension  ·  Platform Oversight</a:t>
            </a:r>
          </a:p>
        </p:txBody>
      </p:sp>
      <p:sp>
        <p:nvSpPr>
          <p:cNvPr id="4" name="Separator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Label_5"/>
          <p:cNvSpPr/>
          <p:nvPr/>
        </p:nvSpPr>
        <p:spPr>
          <a:xfrm>
            <a:off x="1867662" y="1220000"/>
            <a:ext cx="5408676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User Management Table</a:t>
            </a:r>
          </a:p>
        </p:txBody>
      </p:sp>
      <p:pic>
        <p:nvPicPr>
          <p:cNvPr id="6" name="admin_user_mgm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662" y="1400000"/>
            <a:ext cx="5408676" cy="1964025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  <p:sp>
        <p:nvSpPr>
          <p:cNvPr id="7" name="Label_7"/>
          <p:cNvSpPr/>
          <p:nvPr/>
        </p:nvSpPr>
        <p:spPr>
          <a:xfrm>
            <a:off x="411480" y="3514025"/>
            <a:ext cx="832104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</a:rPr>
              <a:t>Account Suspended — Row Detail</a:t>
            </a:r>
          </a:p>
        </p:txBody>
      </p:sp>
      <p:pic>
        <p:nvPicPr>
          <p:cNvPr id="8" name="admin_susp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11" y="3824025"/>
            <a:ext cx="7210697" cy="1146562"/>
          </a:xfrm>
          <a:prstGeom prst="rect">
            <a:avLst/>
          </a:prstGeom>
          <a:ln w="19050">
            <a:solidFill>
              <a:srgbClr val="CBD5E0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LocalGuide Connect — MVP Delivered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LocalGuide Connect  ·  CSIS 3275-003  ·  Group 3  ·  Spring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8321040" cy="36576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114800" cy="475488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76072" y="13350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76072" y="1847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Shipped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1762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C2C platform — Tourist, Guide &amp; Admin roles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41148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4114800" cy="475488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919472" y="13350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19472" y="1847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Invested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21762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engineers × 12 weeks × Agile/Scrum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71216"/>
            <a:ext cx="41148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11480" y="2871216"/>
            <a:ext cx="4114800" cy="475488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76072" y="29077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29/29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" y="3419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" y="3749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user story + 8 edge cases — zero failures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71216"/>
            <a:ext cx="41148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754880" y="2871216"/>
            <a:ext cx="4114800" cy="475488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919472" y="29077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19472" y="3419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OTA Standard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9472" y="3749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OTAs charge 20–30%. We charge 12%. Guides keep 88%.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11480" y="4663440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runs end-to-end in local environment. Stripe, email &amp; GPS are Phase 2 targets.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40234" y="4814489"/>
            <a:ext cx="3931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github.com/10000Katherine/LocalGuide_Software-Engineering</a:t>
            </a:r>
            <a:endParaRPr lang="en-US" sz="1100" dirty="0"/>
          </a:p>
        </p:txBody>
      </p:sp>
      <p:sp>
        <p:nvSpPr>
          <p:cNvPr id="28" name="Closing"/>
          <p:cNvSpPr/>
          <p:nvPr/>
        </p:nvSpPr>
        <p:spPr>
          <a:xfrm>
            <a:off x="411480" y="4210985"/>
            <a:ext cx="8321040" cy="380000"/>
          </a:xfrm>
          <a:prstGeom prst="rect">
            <a:avLst/>
          </a:prstGeom>
          <a:solidFill>
            <a:srgbClr val="2A7F85"/>
          </a:solidFill>
          <a:ln w="12700">
            <a:solidFill>
              <a:srgbClr val="2A7F85"/>
            </a:solidFill>
          </a:ln>
        </p:spPr>
        <p:txBody>
          <a:bodyPr wrap="square" lIns="182880" tIns="91440" rIns="182880" bIns="9144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Core MVP validated in local dev. Production deployment is Phase 2.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1817</Words>
  <Application>Microsoft Office PowerPoint</Application>
  <PresentationFormat>On-screen Show (16:9)</PresentationFormat>
  <Paragraphs>390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LocalGuide Connect — Final Presentation</dc:title>
  <dc:subject>PptxGenJS Presentation</dc:subject>
  <dc:creator>PptxGenJS</dc:creator>
  <cp:lastModifiedBy>Zhi Kang</cp:lastModifiedBy>
  <cp:revision>2</cp:revision>
  <dcterms:created xsi:type="dcterms:W3CDTF">2026-04-01T18:22:19Z</dcterms:created>
  <dcterms:modified xsi:type="dcterms:W3CDTF">2026-04-03T03:38:49Z</dcterms:modified>
</cp:coreProperties>
</file>